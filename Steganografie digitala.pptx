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260" r:id="rId3"/>
    <p:sldId id="264" r:id="rId4"/>
    <p:sldId id="258" r:id="rId5"/>
    <p:sldId id="257" r:id="rId6"/>
    <p:sldId id="278" r:id="rId7"/>
    <p:sldId id="302" r:id="rId8"/>
    <p:sldId id="270" r:id="rId9"/>
    <p:sldId id="298" r:id="rId10"/>
    <p:sldId id="263" r:id="rId11"/>
    <p:sldId id="265" r:id="rId12"/>
    <p:sldId id="299" r:id="rId13"/>
    <p:sldId id="262" r:id="rId14"/>
    <p:sldId id="300" r:id="rId15"/>
    <p:sldId id="301" r:id="rId16"/>
    <p:sldId id="279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Mukta Mahee" panose="020B0604020202020204" charset="0"/>
      <p:regular r:id="rId20"/>
      <p:bold r:id="rId21"/>
    </p:embeddedFont>
    <p:embeddedFont>
      <p:font typeface="Nunito Light" pitchFamily="2" charset="0"/>
      <p:regular r:id="rId22"/>
      <p:italic r:id="rId23"/>
    </p:embeddedFont>
    <p:embeddedFont>
      <p:font typeface="Orbitron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72D863-09A3-476E-942D-471D105BE44E}">
  <a:tblStyle styleId="{6372D863-09A3-476E-942D-471D105BE4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63678F-F106-4F13-9498-5F94A47B7B3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4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o-RO" dirty="0"/>
              <a:t>Impact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Dim. Originala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Img. Mica</c:v>
                </c:pt>
                <c:pt idx="1">
                  <c:v>Img. Mare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B7-4A29-BA88-20F0D610BC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Dim. Criptata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Img. Mica</c:v>
                </c:pt>
                <c:pt idx="1">
                  <c:v>Img. Mare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432</c:v>
                </c:pt>
                <c:pt idx="1">
                  <c:v>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B7-4A29-BA88-20F0D610B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4129263"/>
        <c:axId val="1134129743"/>
      </c:barChart>
      <c:catAx>
        <c:axId val="113412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129743"/>
        <c:crosses val="autoZero"/>
        <c:auto val="1"/>
        <c:lblAlgn val="ctr"/>
        <c:lblOffset val="100"/>
        <c:noMultiLvlLbl val="0"/>
      </c:catAx>
      <c:valAx>
        <c:axId val="1134129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129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f5352a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f5352a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A2CBECB0-9775-C30E-0C7F-528CD6EE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d44c0c1fca_0_138:notes">
            <a:extLst>
              <a:ext uri="{FF2B5EF4-FFF2-40B4-BE49-F238E27FC236}">
                <a16:creationId xmlns:a16="http://schemas.microsoft.com/office/drawing/2014/main" id="{5B5B327E-2694-4BD3-5C97-9F4D241B8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d44c0c1fca_0_138:notes">
            <a:extLst>
              <a:ext uri="{FF2B5EF4-FFF2-40B4-BE49-F238E27FC236}">
                <a16:creationId xmlns:a16="http://schemas.microsoft.com/office/drawing/2014/main" id="{FE139C00-3911-B0A3-6BAA-008EFDFA6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707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00FED47B-21FE-CDDA-B990-D467B460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>
            <a:extLst>
              <a:ext uri="{FF2B5EF4-FFF2-40B4-BE49-F238E27FC236}">
                <a16:creationId xmlns:a16="http://schemas.microsoft.com/office/drawing/2014/main" id="{75C95135-584D-795A-0B39-0947EE3BB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>
            <a:extLst>
              <a:ext uri="{FF2B5EF4-FFF2-40B4-BE49-F238E27FC236}">
                <a16:creationId xmlns:a16="http://schemas.microsoft.com/office/drawing/2014/main" id="{A11E30F9-8B01-1D12-44FE-3E3F04A03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06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B14B4338-E9AA-4D19-33A4-2CF88A21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>
            <a:extLst>
              <a:ext uri="{FF2B5EF4-FFF2-40B4-BE49-F238E27FC236}">
                <a16:creationId xmlns:a16="http://schemas.microsoft.com/office/drawing/2014/main" id="{CD9522F3-7E4D-CC47-ADE4-982A506A5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>
            <a:extLst>
              <a:ext uri="{FF2B5EF4-FFF2-40B4-BE49-F238E27FC236}">
                <a16:creationId xmlns:a16="http://schemas.microsoft.com/office/drawing/2014/main" id="{4571FD56-D9CE-20C8-16A7-92FCB2C93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67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5A85A376-6DF4-2DFC-D057-E531E17F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>
            <a:extLst>
              <a:ext uri="{FF2B5EF4-FFF2-40B4-BE49-F238E27FC236}">
                <a16:creationId xmlns:a16="http://schemas.microsoft.com/office/drawing/2014/main" id="{448C6D71-BCCE-A554-7037-0D41A3C6C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>
            <a:extLst>
              <a:ext uri="{FF2B5EF4-FFF2-40B4-BE49-F238E27FC236}">
                <a16:creationId xmlns:a16="http://schemas.microsoft.com/office/drawing/2014/main" id="{96375B58-EAC3-7D91-1591-EDC9B5668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586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AFB4F11C-9AFE-3FA9-A8E3-0795D808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114740A8-C6D6-9B26-CD87-F4B065B05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4FE9B06E-BAC1-1526-06ED-CFF54D625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456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700" y="3235425"/>
            <a:ext cx="4528800" cy="47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01325" y="2597250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30045" y="-104985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764202" y="-62075"/>
            <a:ext cx="2394148" cy="8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67464" y="3631889"/>
            <a:ext cx="1444150" cy="15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68063" y="-116754"/>
            <a:ext cx="3148524" cy="11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13225" y="3653599"/>
            <a:ext cx="5299800" cy="9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7198375" y="539500"/>
            <a:ext cx="1232400" cy="81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4019400" cy="26676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116765"/>
            <a:ext cx="7704000" cy="30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59801" y="4255550"/>
            <a:ext cx="2766374" cy="10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817526" y="2860650"/>
            <a:ext cx="2291348" cy="6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339776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27102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27102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339777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173175" y="4603999"/>
            <a:ext cx="2663675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683951" y="-526449"/>
            <a:ext cx="434275" cy="180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707598" y="248850"/>
            <a:ext cx="2082701" cy="1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352" y="2513599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91269" y="330700"/>
            <a:ext cx="3197970" cy="24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75180" y="22165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75180" y="19406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75180" y="16647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5180" y="13888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621355" y="24143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621355" y="21384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621355" y="18625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526" y="4436648"/>
            <a:ext cx="2202975" cy="80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41021" y="-103179"/>
            <a:ext cx="2202979" cy="16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1392400" y="2068575"/>
            <a:ext cx="3195300" cy="17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>
            <a:spLocks noGrp="1"/>
          </p:cNvSpPr>
          <p:nvPr>
            <p:ph type="pic" idx="2"/>
          </p:nvPr>
        </p:nvSpPr>
        <p:spPr>
          <a:xfrm>
            <a:off x="4857450" y="1318425"/>
            <a:ext cx="2751900" cy="32856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7199" y="0"/>
            <a:ext cx="906850" cy="2160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4"/>
          <p:cNvGrpSpPr/>
          <p:nvPr/>
        </p:nvGrpSpPr>
        <p:grpSpPr>
          <a:xfrm>
            <a:off x="654118" y="2439450"/>
            <a:ext cx="118200" cy="945900"/>
            <a:chOff x="296218" y="588625"/>
            <a:chExt cx="118200" cy="945900"/>
          </a:xfrm>
        </p:grpSpPr>
        <p:sp>
          <p:nvSpPr>
            <p:cNvPr id="86" name="Google Shape;86;p14"/>
            <p:cNvSpPr/>
            <p:nvPr/>
          </p:nvSpPr>
          <p:spPr>
            <a:xfrm>
              <a:off x="296218" y="14163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296218" y="11404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96218" y="8645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296218" y="5886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15335" y="4299625"/>
            <a:ext cx="2548351" cy="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296218" y="3386900"/>
            <a:ext cx="118200" cy="945900"/>
            <a:chOff x="296218" y="3386900"/>
            <a:chExt cx="118200" cy="945900"/>
          </a:xfrm>
        </p:grpSpPr>
        <p:sp>
          <p:nvSpPr>
            <p:cNvPr id="100" name="Google Shape;100;p15"/>
            <p:cNvSpPr/>
            <p:nvPr/>
          </p:nvSpPr>
          <p:spPr>
            <a:xfrm>
              <a:off x="296218" y="42146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96218" y="39387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218" y="36628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96218" y="3386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41865" y="682140"/>
            <a:ext cx="2259825" cy="8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713225" y="1901305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2"/>
          </p:nvPr>
        </p:nvSpPr>
        <p:spPr>
          <a:xfrm>
            <a:off x="4834800" y="1901305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3"/>
          </p:nvPr>
        </p:nvSpPr>
        <p:spPr>
          <a:xfrm>
            <a:off x="713225" y="3260501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4"/>
          </p:nvPr>
        </p:nvSpPr>
        <p:spPr>
          <a:xfrm>
            <a:off x="4834800" y="3260501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5"/>
          </p:nvPr>
        </p:nvSpPr>
        <p:spPr>
          <a:xfrm>
            <a:off x="713226" y="1405421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6"/>
          </p:nvPr>
        </p:nvSpPr>
        <p:spPr>
          <a:xfrm>
            <a:off x="713226" y="2764642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7"/>
          </p:nvPr>
        </p:nvSpPr>
        <p:spPr>
          <a:xfrm>
            <a:off x="4834767" y="1405421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ubTitle" idx="8"/>
          </p:nvPr>
        </p:nvSpPr>
        <p:spPr>
          <a:xfrm>
            <a:off x="4834767" y="2764642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803288" y="3890814"/>
            <a:ext cx="353075" cy="195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454947" y="3042975"/>
            <a:ext cx="1463450" cy="3122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7987638" y="-711336"/>
            <a:ext cx="353075" cy="195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3900" y="1872394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2"/>
          </p:nvPr>
        </p:nvSpPr>
        <p:spPr>
          <a:xfrm>
            <a:off x="3442650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3"/>
          </p:nvPr>
        </p:nvSpPr>
        <p:spPr>
          <a:xfrm>
            <a:off x="72390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4"/>
          </p:nvPr>
        </p:nvSpPr>
        <p:spPr>
          <a:xfrm>
            <a:off x="344265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5"/>
          </p:nvPr>
        </p:nvSpPr>
        <p:spPr>
          <a:xfrm>
            <a:off x="6172072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6"/>
          </p:nvPr>
        </p:nvSpPr>
        <p:spPr>
          <a:xfrm>
            <a:off x="6172072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7"/>
          </p:nvPr>
        </p:nvSpPr>
        <p:spPr>
          <a:xfrm>
            <a:off x="732770" y="1222518"/>
            <a:ext cx="22494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8"/>
          </p:nvPr>
        </p:nvSpPr>
        <p:spPr>
          <a:xfrm>
            <a:off x="3447085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9"/>
          </p:nvPr>
        </p:nvSpPr>
        <p:spPr>
          <a:xfrm>
            <a:off x="6176507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3"/>
          </p:nvPr>
        </p:nvSpPr>
        <p:spPr>
          <a:xfrm>
            <a:off x="723900" y="3008043"/>
            <a:ext cx="2258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14"/>
          </p:nvPr>
        </p:nvSpPr>
        <p:spPr>
          <a:xfrm>
            <a:off x="3447090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5"/>
          </p:nvPr>
        </p:nvSpPr>
        <p:spPr>
          <a:xfrm>
            <a:off x="6176509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33038" y="-845700"/>
            <a:ext cx="750525" cy="237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t="71078" r="29403" b="51"/>
          <a:stretch/>
        </p:blipFill>
        <p:spPr>
          <a:xfrm>
            <a:off x="-412577" y="0"/>
            <a:ext cx="2027650" cy="72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1030649" y="740702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85963" y="-510386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93" y="3239750"/>
            <a:ext cx="1741078" cy="190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55985" y="3225526"/>
            <a:ext cx="2953575" cy="2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999773" y="957875"/>
            <a:ext cx="2268199" cy="89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0"/>
          <p:cNvGrpSpPr/>
          <p:nvPr/>
        </p:nvGrpSpPr>
        <p:grpSpPr>
          <a:xfrm>
            <a:off x="8536502" y="1"/>
            <a:ext cx="615727" cy="2138099"/>
            <a:chOff x="8536502" y="1"/>
            <a:chExt cx="615727" cy="2138099"/>
          </a:xfrm>
        </p:grpSpPr>
        <p:pic>
          <p:nvPicPr>
            <p:cNvPr id="151" name="Google Shape;151;p20"/>
            <p:cNvPicPr preferRelativeResize="0"/>
            <p:nvPr/>
          </p:nvPicPr>
          <p:blipFill rotWithShape="1">
            <a:blip r:embed="rId4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0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967349" y="3462927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75088" y="-35225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68" y="4096625"/>
            <a:ext cx="1741078" cy="1903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2"/>
          <p:cNvGrpSpPr/>
          <p:nvPr/>
        </p:nvGrpSpPr>
        <p:grpSpPr>
          <a:xfrm>
            <a:off x="8501689" y="1690276"/>
            <a:ext cx="615727" cy="2138099"/>
            <a:chOff x="8536502" y="1"/>
            <a:chExt cx="615727" cy="2138099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5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l="-1218" t="11240" r="8916" b="-2108"/>
          <a:stretch/>
        </p:blipFill>
        <p:spPr>
          <a:xfrm rot="-5400000" flipH="1">
            <a:off x="-768288" y="1117892"/>
            <a:ext cx="4847852" cy="3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72975" y="-1002222"/>
            <a:ext cx="1717001" cy="3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ntechsolutions.net/matlab-code-for-lsb-steganograph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n.wikipedia.org/wiki/Steganography" TargetMode="External"/><Relationship Id="rId4" Type="http://schemas.openxmlformats.org/officeDocument/2006/relationships/hyperlink" Target="https://www.protectstar.com/en/blog/hiding-in-plain-sight-how-malware-can-be-concealed-using-steganography-in-im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000" dirty="0"/>
              <a:t>Steganografie digital</a:t>
            </a:r>
            <a:r>
              <a:rPr lang="en-US" sz="5000" dirty="0"/>
              <a:t>a</a:t>
            </a:r>
            <a:endParaRPr sz="3700" dirty="0"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2307700" y="3235424"/>
            <a:ext cx="4528800" cy="574575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Bulearc</a:t>
            </a:r>
            <a:r>
              <a:rPr lang="ro-RO" dirty="0"/>
              <a:t>ă Teona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Grupa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Contextul Actual si Aria de Impact</a:t>
            </a:r>
            <a:endParaRPr dirty="0"/>
          </a:p>
        </p:txBody>
      </p:sp>
      <p:sp>
        <p:nvSpPr>
          <p:cNvPr id="223" name="Google Shape;223;p31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Context: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vulnerabilității</a:t>
            </a:r>
            <a:r>
              <a:rPr lang="en-US" dirty="0"/>
              <a:t> </a:t>
            </a:r>
            <a:r>
              <a:rPr lang="en-US" dirty="0" err="1"/>
              <a:t>canalelor</a:t>
            </a:r>
            <a:r>
              <a:rPr lang="en-US" dirty="0"/>
              <a:t> standard de </a:t>
            </a:r>
            <a:r>
              <a:rPr lang="en-US" dirty="0" err="1"/>
              <a:t>comunicație</a:t>
            </a:r>
            <a:r>
              <a:rPr lang="en-US" dirty="0"/>
              <a:t>, </a:t>
            </a:r>
            <a:r>
              <a:rPr lang="en-US" dirty="0" err="1"/>
              <a:t>criptarea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suficientă</a:t>
            </a:r>
            <a:r>
              <a:rPr lang="en-US" dirty="0"/>
              <a:t>.</a:t>
            </a:r>
          </a:p>
          <a:p>
            <a:pPr marL="171450" indent="-171450"/>
            <a:endParaRPr lang="en-US" dirty="0"/>
          </a:p>
          <a:p>
            <a:pPr marL="171450" indent="-171450"/>
            <a:r>
              <a:rPr lang="en-US" b="1" dirty="0" err="1"/>
              <a:t>Problema</a:t>
            </a:r>
            <a:r>
              <a:rPr lang="en-US" b="1" dirty="0"/>
              <a:t> </a:t>
            </a:r>
            <a:r>
              <a:rPr lang="en-US" b="1" dirty="0" err="1"/>
              <a:t>identificată</a:t>
            </a:r>
            <a:r>
              <a:rPr lang="en-US" dirty="0"/>
              <a:t>: </a:t>
            </a:r>
            <a:r>
              <a:rPr lang="en-US" dirty="0" err="1"/>
              <a:t>Criptografia</a:t>
            </a:r>
            <a:r>
              <a:rPr lang="en-US" dirty="0"/>
              <a:t> </a:t>
            </a:r>
            <a:r>
              <a:rPr lang="en-US" dirty="0" err="1"/>
              <a:t>protejează</a:t>
            </a:r>
            <a:r>
              <a:rPr lang="en-US" dirty="0"/>
              <a:t> </a:t>
            </a:r>
            <a:r>
              <a:rPr lang="en-US" dirty="0" err="1"/>
              <a:t>conținutul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expune</a:t>
            </a:r>
            <a:r>
              <a:rPr lang="en-US" dirty="0"/>
              <a:t> </a:t>
            </a:r>
            <a:r>
              <a:rPr lang="en-US" dirty="0" err="1"/>
              <a:t>intenția</a:t>
            </a:r>
            <a:r>
              <a:rPr lang="en-US" dirty="0"/>
              <a:t> </a:t>
            </a:r>
            <a:r>
              <a:rPr lang="en-US" dirty="0" err="1"/>
              <a:t>comunicării</a:t>
            </a:r>
            <a:r>
              <a:rPr lang="en-US" dirty="0"/>
              <a:t> </a:t>
            </a:r>
            <a:r>
              <a:rPr lang="en-US" dirty="0" err="1"/>
              <a:t>secretizate</a:t>
            </a:r>
            <a:r>
              <a:rPr lang="en-US" dirty="0"/>
              <a:t>.</a:t>
            </a:r>
          </a:p>
          <a:p>
            <a:pPr marL="171450" indent="-171450"/>
            <a:endParaRPr lang="en-US" dirty="0"/>
          </a:p>
          <a:p>
            <a:pPr marL="171450" indent="-171450"/>
            <a:r>
              <a:rPr lang="en-US" b="1" dirty="0"/>
              <a:t>Solu</a:t>
            </a:r>
            <a:r>
              <a:rPr lang="ro-RO" b="1" dirty="0"/>
              <a:t>ție</a:t>
            </a:r>
            <a:r>
              <a:rPr lang="en-US" b="1" dirty="0"/>
              <a:t>: </a:t>
            </a:r>
            <a:r>
              <a:rPr lang="en-US" i="1" dirty="0" err="1"/>
              <a:t>Steganografia</a:t>
            </a:r>
            <a:r>
              <a:rPr lang="en-US" i="1" dirty="0"/>
              <a:t> </a:t>
            </a:r>
            <a:r>
              <a:rPr lang="en-US" dirty="0"/>
              <a:t>(un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suplimentar</a:t>
            </a:r>
            <a:r>
              <a:rPr lang="en-US" dirty="0"/>
              <a:t> de </a:t>
            </a:r>
            <a:r>
              <a:rPr lang="en-US" dirty="0" err="1"/>
              <a:t>securitate</a:t>
            </a:r>
            <a:r>
              <a:rPr lang="en-US" dirty="0"/>
              <a:t> care </a:t>
            </a:r>
            <a:r>
              <a:rPr lang="en-US" dirty="0" err="1"/>
              <a:t>asigur</a:t>
            </a:r>
            <a:r>
              <a:rPr lang="ro-RO" dirty="0"/>
              <a:t>ă confidențialitatea datelor</a:t>
            </a:r>
            <a:r>
              <a:rPr lang="en-US" dirty="0"/>
              <a:t>)</a:t>
            </a:r>
            <a:r>
              <a:rPr lang="ro-RO" dirty="0"/>
              <a:t>.</a:t>
            </a:r>
          </a:p>
          <a:p>
            <a:pPr marL="171450" indent="-171450"/>
            <a:endParaRPr lang="ro-RO" b="1" dirty="0"/>
          </a:p>
          <a:p>
            <a:pPr marL="171450" indent="-171450"/>
            <a:r>
              <a:rPr lang="ro-RO" b="1" dirty="0"/>
              <a:t>Aria de impact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Securizarea</a:t>
            </a:r>
            <a:r>
              <a:rPr lang="en-US" dirty="0"/>
              <a:t> </a:t>
            </a:r>
            <a:r>
              <a:rPr lang="en-US" dirty="0" err="1"/>
              <a:t>proprietății</a:t>
            </a:r>
            <a:r>
              <a:rPr lang="en-US" dirty="0"/>
              <a:t> </a:t>
            </a:r>
            <a:r>
              <a:rPr lang="en-US" dirty="0" err="1"/>
              <a:t>intelectuale</a:t>
            </a:r>
            <a:r>
              <a:rPr lang="en-US" dirty="0"/>
              <a:t> (Copyright), </a:t>
            </a:r>
            <a:r>
              <a:rPr lang="en-US" dirty="0" err="1"/>
              <a:t>comunicații</a:t>
            </a:r>
            <a:r>
              <a:rPr lang="en-US" dirty="0"/>
              <a:t> </a:t>
            </a:r>
            <a:r>
              <a:rPr lang="en-US" dirty="0" err="1"/>
              <a:t>confidențiale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medii</a:t>
            </a:r>
            <a:r>
              <a:rPr lang="en-US" dirty="0"/>
              <a:t> </a:t>
            </a:r>
            <a:r>
              <a:rPr lang="en-US" dirty="0" err="1"/>
              <a:t>ostile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protecția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personale</a:t>
            </a:r>
            <a:r>
              <a:rPr lang="en-US" dirty="0"/>
              <a:t> (GDPR</a:t>
            </a:r>
            <a:r>
              <a:rPr lang="en-US" b="1" dirty="0"/>
              <a:t>).</a:t>
            </a:r>
            <a:endParaRPr b="1" dirty="0"/>
          </a:p>
        </p:txBody>
      </p:sp>
      <p:pic>
        <p:nvPicPr>
          <p:cNvPr id="224" name="Google Shape;224;p3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32622" r="4482"/>
          <a:stretch>
            <a:fillRect/>
          </a:stretch>
        </p:blipFill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>
            <a:spLocks noGrp="1"/>
          </p:cNvSpPr>
          <p:nvPr>
            <p:ph type="subTitle" idx="6"/>
          </p:nvPr>
        </p:nvSpPr>
        <p:spPr>
          <a:xfrm>
            <a:off x="713226" y="2764642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Protecția conținutului</a:t>
            </a:r>
            <a:endParaRPr dirty="0"/>
          </a:p>
        </p:txBody>
      </p:sp>
      <p:sp>
        <p:nvSpPr>
          <p:cNvPr id="264" name="Google Shape;26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Steganografie vs. Criptografie</a:t>
            </a:r>
            <a:endParaRPr dirty="0"/>
          </a:p>
        </p:txBody>
      </p:sp>
      <p:sp>
        <p:nvSpPr>
          <p:cNvPr id="265" name="Google Shape;265;p35"/>
          <p:cNvSpPr txBox="1">
            <a:spLocks noGrp="1"/>
          </p:cNvSpPr>
          <p:nvPr>
            <p:ph type="subTitle" idx="1"/>
          </p:nvPr>
        </p:nvSpPr>
        <p:spPr>
          <a:xfrm>
            <a:off x="713225" y="1901305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Procesul prin care informa</a:t>
            </a:r>
            <a:r>
              <a:rPr lang="ro-RO" dirty="0"/>
              <a:t>ția este ascunsă într-un mesaj, astfel î</a:t>
            </a:r>
            <a:r>
              <a:rPr lang="en-US" dirty="0" err="1"/>
              <a:t>ncât</a:t>
            </a:r>
            <a:r>
              <a:rPr lang="en-US" dirty="0"/>
              <a:t> </a:t>
            </a:r>
            <a:r>
              <a:rPr lang="en-US" dirty="0" err="1"/>
              <a:t>nimeni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afară</a:t>
            </a:r>
            <a:r>
              <a:rPr lang="en-US" dirty="0"/>
              <a:t> de </a:t>
            </a:r>
            <a:r>
              <a:rPr lang="en-US" dirty="0" err="1"/>
              <a:t>destinatar</a:t>
            </a:r>
            <a:r>
              <a:rPr lang="en-US" dirty="0"/>
              <a:t>, </a:t>
            </a:r>
            <a:r>
              <a:rPr lang="en-US" dirty="0" err="1"/>
              <a:t>să</a:t>
            </a:r>
            <a:r>
              <a:rPr lang="en-US" dirty="0"/>
              <a:t> nu </a:t>
            </a:r>
            <a:r>
              <a:rPr lang="en-US" dirty="0" err="1"/>
              <a:t>suspecteze</a:t>
            </a:r>
            <a:r>
              <a:rPr lang="en-US" dirty="0"/>
              <a:t> </a:t>
            </a:r>
            <a:r>
              <a:rPr lang="en-US" dirty="0" err="1"/>
              <a:t>existența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66" name="Google Shape;266;p35"/>
          <p:cNvSpPr txBox="1">
            <a:spLocks noGrp="1"/>
          </p:cNvSpPr>
          <p:nvPr>
            <p:ph type="subTitle" idx="2"/>
          </p:nvPr>
        </p:nvSpPr>
        <p:spPr>
          <a:xfrm>
            <a:off x="4834800" y="1901305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Procesul prin care informația este transformată într-un format ilizbil (text cifrat) pentru oricine care nu deține cheia de criptare.</a:t>
            </a:r>
            <a:endParaRPr dirty="0"/>
          </a:p>
        </p:txBody>
      </p:sp>
      <p:sp>
        <p:nvSpPr>
          <p:cNvPr id="267" name="Google Shape;267;p35"/>
          <p:cNvSpPr txBox="1">
            <a:spLocks noGrp="1"/>
          </p:cNvSpPr>
          <p:nvPr>
            <p:ph type="subTitle" idx="3"/>
          </p:nvPr>
        </p:nvSpPr>
        <p:spPr>
          <a:xfrm>
            <a:off x="692750" y="3256689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Face mesajul </a:t>
            </a:r>
            <a:r>
              <a:rPr lang="ro-RO" i="1" dirty="0"/>
              <a:t>invizibil</a:t>
            </a:r>
            <a:endParaRPr dirty="0"/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4"/>
          </p:nvPr>
        </p:nvSpPr>
        <p:spPr>
          <a:xfrm>
            <a:off x="4834800" y="3260501"/>
            <a:ext cx="35823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Face mesajul </a:t>
            </a:r>
            <a:r>
              <a:rPr lang="ro-RO" i="1" dirty="0"/>
              <a:t>ilizibil</a:t>
            </a:r>
            <a:endParaRPr dirty="0"/>
          </a:p>
        </p:txBody>
      </p:sp>
      <p:sp>
        <p:nvSpPr>
          <p:cNvPr id="269" name="Google Shape;269;p35"/>
          <p:cNvSpPr txBox="1">
            <a:spLocks noGrp="1"/>
          </p:cNvSpPr>
          <p:nvPr>
            <p:ph type="subTitle" idx="5"/>
          </p:nvPr>
        </p:nvSpPr>
        <p:spPr>
          <a:xfrm>
            <a:off x="713226" y="1405421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Steganografie</a:t>
            </a:r>
            <a:endParaRPr dirty="0"/>
          </a:p>
        </p:txBody>
      </p:sp>
      <p:sp>
        <p:nvSpPr>
          <p:cNvPr id="270" name="Google Shape;270;p35"/>
          <p:cNvSpPr txBox="1">
            <a:spLocks noGrp="1"/>
          </p:cNvSpPr>
          <p:nvPr>
            <p:ph type="subTitle" idx="7"/>
          </p:nvPr>
        </p:nvSpPr>
        <p:spPr>
          <a:xfrm>
            <a:off x="4834767" y="1405421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Criptografie</a:t>
            </a:r>
            <a:endParaRPr dirty="0"/>
          </a:p>
        </p:txBody>
      </p:sp>
      <p:sp>
        <p:nvSpPr>
          <p:cNvPr id="271" name="Google Shape;271;p35"/>
          <p:cNvSpPr txBox="1">
            <a:spLocks noGrp="1"/>
          </p:cNvSpPr>
          <p:nvPr>
            <p:ph type="subTitle" idx="8"/>
          </p:nvPr>
        </p:nvSpPr>
        <p:spPr>
          <a:xfrm>
            <a:off x="4834767" y="2764642"/>
            <a:ext cx="3582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Protecția existenței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C6BEB-F567-D3AE-203F-4C9AFDC02081}"/>
              </a:ext>
            </a:extLst>
          </p:cNvPr>
          <p:cNvSpPr txBox="1"/>
          <p:nvPr/>
        </p:nvSpPr>
        <p:spPr>
          <a:xfrm>
            <a:off x="4352646" y="2760805"/>
            <a:ext cx="384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Orbitron" panose="020B0604020202020204" charset="0"/>
              </a:rPr>
              <a:t>≠</a:t>
            </a:r>
            <a:endParaRPr lang="en-US" b="1" dirty="0">
              <a:solidFill>
                <a:schemeClr val="tx1"/>
              </a:solidFill>
              <a:latin typeface="Orbitron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Analiza Pietei si Elementul de noutate</a:t>
            </a:r>
            <a:endParaRPr lang="it-IT" dirty="0"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1"/>
          </p:nvPr>
        </p:nvSpPr>
        <p:spPr>
          <a:xfrm>
            <a:off x="942975" y="1409700"/>
            <a:ext cx="3644725" cy="244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/>
              <a:t>Piața este dominată de soluții Desktop dependente de sistemul de operare sau utilitare </a:t>
            </a:r>
            <a:r>
              <a:rPr lang="ro-RO" b="1"/>
              <a:t>CLI (Command Line Interface), caracterizate prin accesibilitatea redusă</a:t>
            </a:r>
            <a:r>
              <a:rPr lang="en-US" b="1"/>
              <a:t>; necesi</a:t>
            </a:r>
            <a:r>
              <a:rPr lang="ro-RO" b="1"/>
              <a:t>tă instalare locală și configurare complexă.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/>
              <a:t>Noutatea proiectului</a:t>
            </a:r>
            <a:r>
              <a:rPr lang="en-US" b="1"/>
              <a:t>: </a:t>
            </a:r>
          </a:p>
          <a:p>
            <a:pPr marL="228600" indent="-228600"/>
            <a:r>
              <a:rPr lang="en-US" b="1"/>
              <a:t>Accesibilitate</a:t>
            </a:r>
            <a:r>
              <a:rPr lang="en-US"/>
              <a:t>: aplicație Web (React) accesibilă din orice browser.</a:t>
            </a:r>
          </a:p>
          <a:p>
            <a:pPr marL="228600" indent="-228600"/>
            <a:r>
              <a:rPr lang="en-US" b="1"/>
              <a:t>Securitate duală:</a:t>
            </a:r>
            <a:r>
              <a:rPr lang="en-US"/>
              <a:t> AES (Criptare) + LSB (Ascundere).</a:t>
            </a:r>
          </a:p>
          <a:p>
            <a:pPr marL="228600" indent="-228600"/>
            <a:r>
              <a:rPr lang="en-US" b="1"/>
              <a:t>Educație:</a:t>
            </a:r>
            <a:r>
              <a:rPr lang="en-US"/>
              <a:t> Integrare AI pentru asistență.</a:t>
            </a:r>
          </a:p>
          <a:p>
            <a:pPr marL="228600" indent="-228600"/>
            <a:r>
              <a:rPr lang="pt-BR" b="1"/>
              <a:t>Audit:</a:t>
            </a:r>
            <a:r>
              <a:rPr lang="pt-BR"/>
              <a:t> Monitorizarea operațiunilor (bază de date).</a:t>
            </a:r>
            <a:endParaRPr lang="pt-BR" dirty="0"/>
          </a:p>
        </p:txBody>
      </p:sp>
      <p:pic>
        <p:nvPicPr>
          <p:cNvPr id="199" name="Google Shape;199;p29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8122" r="8122"/>
          <a:stretch/>
        </p:blipFill>
        <p:spPr>
          <a:xfrm>
            <a:off x="4857450" y="1318425"/>
            <a:ext cx="2751900" cy="3285600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28"/>
          <p:cNvGraphicFramePr/>
          <p:nvPr>
            <p:extLst>
              <p:ext uri="{D42A27DB-BD31-4B8C-83A1-F6EECF244321}">
                <p14:modId xmlns:p14="http://schemas.microsoft.com/office/powerpoint/2010/main" val="406321116"/>
              </p:ext>
            </p:extLst>
          </p:nvPr>
        </p:nvGraphicFramePr>
        <p:xfrm>
          <a:off x="720000" y="1614825"/>
          <a:ext cx="7704000" cy="1807625"/>
        </p:xfrm>
        <a:graphic>
          <a:graphicData uri="http://schemas.openxmlformats.org/drawingml/2006/table">
            <a:tbl>
              <a:tblPr>
                <a:noFill/>
                <a:tableStyleId>{6372D863-09A3-476E-942D-471D105BE44E}</a:tableStyleId>
              </a:tblPr>
              <a:tblGrid>
                <a:gridCol w="242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Req 1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Ascunderea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mesajelor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în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imagini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(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Steganografie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Req 2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Securizarea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mesajului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cu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parolă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personalizată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(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Criptografie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Req 3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Asistență inteligentă pentru utilizatori</a:t>
                      </a:r>
                      <a:r>
                        <a:rPr lang="ro-RO" sz="110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it-IT" sz="110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(</a:t>
                      </a:r>
                      <a:r>
                        <a:rPr lang="it-IT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AI Integration)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Req 4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Acces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prin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interfață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web </a:t>
                      </a:r>
                      <a:r>
                        <a:rPr lang="ro-RO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intuitivă 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(</a:t>
                      </a:r>
                      <a:r>
                        <a:rPr lang="ro-RO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f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ără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instalare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Req 5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Păstrarea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unui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istoric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al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activității</a:t>
                      </a:r>
                      <a:r>
                        <a:rPr lang="ro-RO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(Audit Logs)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Cerinte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(Requirements)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>
            <a:spLocks noGrp="1"/>
          </p:cNvSpPr>
          <p:nvPr>
            <p:ph type="body" idx="4294967295"/>
          </p:nvPr>
        </p:nvSpPr>
        <p:spPr>
          <a:xfrm>
            <a:off x="719999" y="1270184"/>
            <a:ext cx="7704000" cy="551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ip: Arhitectur</a:t>
            </a:r>
            <a:r>
              <a:rPr lang="ro-RO" dirty="0"/>
              <a:t>ă Stratificată (Layered Architecture)</a:t>
            </a:r>
            <a:endParaRPr sz="1200" dirty="0"/>
          </a:p>
        </p:txBody>
      </p:sp>
      <p:sp>
        <p:nvSpPr>
          <p:cNvPr id="577" name="Google Shape;577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321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Arhitectura Software</a:t>
            </a:r>
            <a:endParaRPr dirty="0"/>
          </a:p>
        </p:txBody>
      </p:sp>
      <p:pic>
        <p:nvPicPr>
          <p:cNvPr id="578" name="Google Shape;5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40" y="3094621"/>
            <a:ext cx="3015636" cy="39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77D5E0-9AD4-614C-B0F0-B90458858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14" y="1822021"/>
            <a:ext cx="8393769" cy="1462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9792E3-43F9-C97D-3B92-B4C257FF977F}"/>
              </a:ext>
            </a:extLst>
          </p:cNvPr>
          <p:cNvSpPr txBox="1"/>
          <p:nvPr/>
        </p:nvSpPr>
        <p:spPr>
          <a:xfrm>
            <a:off x="669551" y="3573856"/>
            <a:ext cx="5061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Flux</a:t>
            </a:r>
            <a:r>
              <a:rPr lang="en-US" sz="1200" dirty="0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: Client-Server </a:t>
            </a:r>
            <a:r>
              <a:rPr lang="en-US" sz="1200" dirty="0" err="1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prin</a:t>
            </a:r>
            <a:r>
              <a:rPr lang="en-US" sz="1200" dirty="0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 REST API (JSON)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F641AE49-6341-D9BB-A68E-40BB530A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9">
            <a:extLst>
              <a:ext uri="{FF2B5EF4-FFF2-40B4-BE49-F238E27FC236}">
                <a16:creationId xmlns:a16="http://schemas.microsoft.com/office/drawing/2014/main" id="{D938284E-B652-B709-35D0-6995A68A5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321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UML</a:t>
            </a:r>
            <a:endParaRPr dirty="0"/>
          </a:p>
        </p:txBody>
      </p:sp>
      <p:pic>
        <p:nvPicPr>
          <p:cNvPr id="578" name="Google Shape;578;p49">
            <a:extLst>
              <a:ext uri="{FF2B5EF4-FFF2-40B4-BE49-F238E27FC236}">
                <a16:creationId xmlns:a16="http://schemas.microsoft.com/office/drawing/2014/main" id="{D4567FAE-D961-25C5-F85C-476F3B9A965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583414"/>
            <a:ext cx="3015636" cy="39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922BD-7E54-CAB0-0EAD-A4EC7703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849" y="1017725"/>
            <a:ext cx="5336418" cy="349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5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/>
          <p:nvPr/>
        </p:nvSpPr>
        <p:spPr>
          <a:xfrm>
            <a:off x="2665775" y="1367950"/>
            <a:ext cx="512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41"/>
          <p:cNvSpPr/>
          <p:nvPr/>
        </p:nvSpPr>
        <p:spPr>
          <a:xfrm>
            <a:off x="2665775" y="2452886"/>
            <a:ext cx="512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1"/>
          <p:cNvSpPr/>
          <p:nvPr/>
        </p:nvSpPr>
        <p:spPr>
          <a:xfrm>
            <a:off x="2665775" y="3537821"/>
            <a:ext cx="512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1"/>
          <p:cNvSpPr/>
          <p:nvPr/>
        </p:nvSpPr>
        <p:spPr>
          <a:xfrm>
            <a:off x="5965675" y="1367950"/>
            <a:ext cx="512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1"/>
          <p:cNvSpPr/>
          <p:nvPr/>
        </p:nvSpPr>
        <p:spPr>
          <a:xfrm>
            <a:off x="5965675" y="3537821"/>
            <a:ext cx="512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Codului</a:t>
            </a:r>
            <a:endParaRPr dirty="0"/>
          </a:p>
        </p:txBody>
      </p:sp>
      <p:sp>
        <p:nvSpPr>
          <p:cNvPr id="354" name="Google Shape;354;p41"/>
          <p:cNvSpPr txBox="1"/>
          <p:nvPr/>
        </p:nvSpPr>
        <p:spPr>
          <a:xfrm>
            <a:off x="57477" y="1367950"/>
            <a:ext cx="20451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Controller</a:t>
            </a:r>
            <a:endParaRPr sz="1800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56" name="Google Shape;356;p41"/>
          <p:cNvSpPr txBox="1"/>
          <p:nvPr/>
        </p:nvSpPr>
        <p:spPr>
          <a:xfrm>
            <a:off x="388098" y="3537821"/>
            <a:ext cx="16641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Service</a:t>
            </a:r>
            <a:endParaRPr sz="1800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57" name="Google Shape;357;p41"/>
          <p:cNvSpPr txBox="1"/>
          <p:nvPr/>
        </p:nvSpPr>
        <p:spPr>
          <a:xfrm>
            <a:off x="7078821" y="1295692"/>
            <a:ext cx="16641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Repository</a:t>
            </a:r>
            <a:endParaRPr sz="1800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59" name="Google Shape;359;p41"/>
          <p:cNvSpPr txBox="1"/>
          <p:nvPr/>
        </p:nvSpPr>
        <p:spPr>
          <a:xfrm>
            <a:off x="7078801" y="3315492"/>
            <a:ext cx="16641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U</a:t>
            </a:r>
            <a:r>
              <a:rPr lang="ro-RO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tils</a:t>
            </a:r>
            <a:endParaRPr sz="1800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447076" y="1735798"/>
            <a:ext cx="16641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rPr>
              <a:t>Gestionează cererile HTTP (interfața cu frontend)</a:t>
            </a:r>
            <a:endParaRPr sz="1200" dirty="0">
              <a:solidFill>
                <a:schemeClr val="accent2"/>
              </a:solidFill>
              <a:latin typeface="Mukta Mahee"/>
              <a:ea typeface="Mukta Mahee"/>
              <a:cs typeface="Mukta Mahee"/>
              <a:sym typeface="Mukta Mahee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419442" y="3953439"/>
            <a:ext cx="16641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rPr>
              <a:t>Conține logica (algoritmii LSB, AES)</a:t>
            </a:r>
            <a:endParaRPr sz="1200" dirty="0">
              <a:solidFill>
                <a:schemeClr val="accent2"/>
              </a:solidFill>
              <a:latin typeface="Mukta Mahee"/>
              <a:ea typeface="Mukta Mahee"/>
              <a:cs typeface="Mukta Mahee"/>
              <a:sym typeface="Mukta Mahee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7078821" y="1681143"/>
            <a:ext cx="16641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rPr>
              <a:t>Gestionează persistența datelor (MySQL)</a:t>
            </a:r>
            <a:endParaRPr sz="1200" dirty="0">
              <a:solidFill>
                <a:schemeClr val="accent2"/>
              </a:solidFill>
              <a:latin typeface="Mukta Mahee"/>
              <a:ea typeface="Mukta Mahee"/>
              <a:cs typeface="Mukta Mahee"/>
              <a:sym typeface="Mukta Mahee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7060458" y="3774290"/>
            <a:ext cx="16641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rPr>
              <a:t>Funcții auxiliare (procesare biți)</a:t>
            </a:r>
            <a:endParaRPr sz="1200" dirty="0">
              <a:solidFill>
                <a:schemeClr val="accent2"/>
              </a:solidFill>
              <a:latin typeface="Mukta Mahee"/>
              <a:ea typeface="Mukta Mahee"/>
              <a:cs typeface="Mukta Mahee"/>
              <a:sym typeface="Mukta Mahee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2174916" y="1473269"/>
            <a:ext cx="458297" cy="373933"/>
          </a:xfrm>
          <a:custGeom>
            <a:avLst/>
            <a:gdLst/>
            <a:ahLst/>
            <a:cxnLst/>
            <a:rect l="l" t="t" r="r" b="b"/>
            <a:pathLst>
              <a:path w="14662" h="11963" extrusionOk="0">
                <a:moveTo>
                  <a:pt x="7504" y="3589"/>
                </a:moveTo>
                <a:cubicBezTo>
                  <a:pt x="8132" y="3589"/>
                  <a:pt x="8722" y="3779"/>
                  <a:pt x="9259" y="4115"/>
                </a:cubicBezTo>
                <a:cubicBezTo>
                  <a:pt x="9833" y="4474"/>
                  <a:pt x="10267" y="4959"/>
                  <a:pt x="10575" y="5574"/>
                </a:cubicBezTo>
                <a:cubicBezTo>
                  <a:pt x="10324" y="5702"/>
                  <a:pt x="10078" y="5823"/>
                  <a:pt x="9833" y="5947"/>
                </a:cubicBezTo>
                <a:cubicBezTo>
                  <a:pt x="9306" y="4998"/>
                  <a:pt x="8537" y="4444"/>
                  <a:pt x="7427" y="4444"/>
                </a:cubicBezTo>
                <a:cubicBezTo>
                  <a:pt x="7425" y="4444"/>
                  <a:pt x="7424" y="4444"/>
                  <a:pt x="7422" y="4444"/>
                </a:cubicBezTo>
                <a:cubicBezTo>
                  <a:pt x="6317" y="4447"/>
                  <a:pt x="5542" y="4991"/>
                  <a:pt x="5019" y="5944"/>
                </a:cubicBezTo>
                <a:cubicBezTo>
                  <a:pt x="4775" y="5821"/>
                  <a:pt x="4526" y="5696"/>
                  <a:pt x="4267" y="5567"/>
                </a:cubicBezTo>
                <a:cubicBezTo>
                  <a:pt x="4966" y="4296"/>
                  <a:pt x="6023" y="3603"/>
                  <a:pt x="7482" y="3589"/>
                </a:cubicBezTo>
                <a:cubicBezTo>
                  <a:pt x="7489" y="3589"/>
                  <a:pt x="7497" y="3589"/>
                  <a:pt x="7504" y="3589"/>
                </a:cubicBezTo>
                <a:close/>
                <a:moveTo>
                  <a:pt x="7428" y="5102"/>
                </a:moveTo>
                <a:cubicBezTo>
                  <a:pt x="7482" y="5102"/>
                  <a:pt x="7535" y="5104"/>
                  <a:pt x="7589" y="5108"/>
                </a:cubicBezTo>
                <a:cubicBezTo>
                  <a:pt x="8337" y="5164"/>
                  <a:pt x="8973" y="5662"/>
                  <a:pt x="9216" y="6266"/>
                </a:cubicBezTo>
                <a:cubicBezTo>
                  <a:pt x="8973" y="6386"/>
                  <a:pt x="8727" y="6509"/>
                  <a:pt x="8483" y="6630"/>
                </a:cubicBezTo>
                <a:cubicBezTo>
                  <a:pt x="8257" y="6166"/>
                  <a:pt x="7840" y="5944"/>
                  <a:pt x="7426" y="5944"/>
                </a:cubicBezTo>
                <a:cubicBezTo>
                  <a:pt x="6998" y="5944"/>
                  <a:pt x="6575" y="6181"/>
                  <a:pt x="6369" y="6632"/>
                </a:cubicBezTo>
                <a:cubicBezTo>
                  <a:pt x="6122" y="6508"/>
                  <a:pt x="5875" y="6380"/>
                  <a:pt x="5627" y="6256"/>
                </a:cubicBezTo>
                <a:cubicBezTo>
                  <a:pt x="5960" y="5545"/>
                  <a:pt x="6651" y="5102"/>
                  <a:pt x="7428" y="5102"/>
                </a:cubicBezTo>
                <a:close/>
                <a:moveTo>
                  <a:pt x="7869" y="7252"/>
                </a:moveTo>
                <a:lnTo>
                  <a:pt x="7869" y="8142"/>
                </a:lnTo>
                <a:lnTo>
                  <a:pt x="6987" y="8142"/>
                </a:lnTo>
                <a:lnTo>
                  <a:pt x="6987" y="7252"/>
                </a:lnTo>
                <a:close/>
                <a:moveTo>
                  <a:pt x="6884" y="1"/>
                </a:moveTo>
                <a:lnTo>
                  <a:pt x="6884" y="1006"/>
                </a:lnTo>
                <a:cubicBezTo>
                  <a:pt x="6689" y="1030"/>
                  <a:pt x="6503" y="1043"/>
                  <a:pt x="6322" y="1075"/>
                </a:cubicBezTo>
                <a:cubicBezTo>
                  <a:pt x="6029" y="1129"/>
                  <a:pt x="5737" y="1192"/>
                  <a:pt x="5445" y="1255"/>
                </a:cubicBezTo>
                <a:cubicBezTo>
                  <a:pt x="5387" y="1269"/>
                  <a:pt x="5325" y="1277"/>
                  <a:pt x="5275" y="1305"/>
                </a:cubicBezTo>
                <a:cubicBezTo>
                  <a:pt x="5249" y="1319"/>
                  <a:pt x="5227" y="1326"/>
                  <a:pt x="5208" y="1326"/>
                </a:cubicBezTo>
                <a:cubicBezTo>
                  <a:pt x="5164" y="1326"/>
                  <a:pt x="5137" y="1291"/>
                  <a:pt x="5108" y="1241"/>
                </a:cubicBezTo>
                <a:cubicBezTo>
                  <a:pt x="4995" y="1034"/>
                  <a:pt x="4878" y="829"/>
                  <a:pt x="4756" y="627"/>
                </a:cubicBezTo>
                <a:cubicBezTo>
                  <a:pt x="4746" y="608"/>
                  <a:pt x="4708" y="588"/>
                  <a:pt x="4686" y="588"/>
                </a:cubicBezTo>
                <a:cubicBezTo>
                  <a:pt x="4682" y="588"/>
                  <a:pt x="4678" y="589"/>
                  <a:pt x="4676" y="590"/>
                </a:cubicBezTo>
                <a:cubicBezTo>
                  <a:pt x="4434" y="726"/>
                  <a:pt x="4197" y="869"/>
                  <a:pt x="3953" y="1012"/>
                </a:cubicBezTo>
                <a:cubicBezTo>
                  <a:pt x="4078" y="1228"/>
                  <a:pt x="4198" y="1439"/>
                  <a:pt x="4324" y="1657"/>
                </a:cubicBezTo>
                <a:cubicBezTo>
                  <a:pt x="4286" y="1679"/>
                  <a:pt x="4249" y="1698"/>
                  <a:pt x="4213" y="1717"/>
                </a:cubicBezTo>
                <a:cubicBezTo>
                  <a:pt x="3682" y="1972"/>
                  <a:pt x="3188" y="2287"/>
                  <a:pt x="2725" y="2648"/>
                </a:cubicBezTo>
                <a:cubicBezTo>
                  <a:pt x="2343" y="2947"/>
                  <a:pt x="1984" y="3272"/>
                  <a:pt x="1654" y="3628"/>
                </a:cubicBezTo>
                <a:cubicBezTo>
                  <a:pt x="1323" y="3984"/>
                  <a:pt x="1012" y="4361"/>
                  <a:pt x="732" y="4758"/>
                </a:cubicBezTo>
                <a:cubicBezTo>
                  <a:pt x="467" y="5135"/>
                  <a:pt x="218" y="5522"/>
                  <a:pt x="15" y="5936"/>
                </a:cubicBezTo>
                <a:cubicBezTo>
                  <a:pt x="14" y="5939"/>
                  <a:pt x="7" y="5944"/>
                  <a:pt x="1" y="5945"/>
                </a:cubicBezTo>
                <a:lnTo>
                  <a:pt x="1" y="6018"/>
                </a:lnTo>
                <a:cubicBezTo>
                  <a:pt x="106" y="6202"/>
                  <a:pt x="199" y="6392"/>
                  <a:pt x="314" y="6569"/>
                </a:cubicBezTo>
                <a:cubicBezTo>
                  <a:pt x="528" y="6890"/>
                  <a:pt x="739" y="7211"/>
                  <a:pt x="968" y="7515"/>
                </a:cubicBezTo>
                <a:cubicBezTo>
                  <a:pt x="1161" y="7771"/>
                  <a:pt x="1375" y="8014"/>
                  <a:pt x="1594" y="8252"/>
                </a:cubicBezTo>
                <a:cubicBezTo>
                  <a:pt x="1821" y="8497"/>
                  <a:pt x="2051" y="8738"/>
                  <a:pt x="2302" y="8958"/>
                </a:cubicBezTo>
                <a:cubicBezTo>
                  <a:pt x="2782" y="9383"/>
                  <a:pt x="3298" y="9763"/>
                  <a:pt x="3868" y="10065"/>
                </a:cubicBezTo>
                <a:cubicBezTo>
                  <a:pt x="4019" y="10144"/>
                  <a:pt x="4169" y="10224"/>
                  <a:pt x="4328" y="10308"/>
                </a:cubicBezTo>
                <a:cubicBezTo>
                  <a:pt x="4205" y="10523"/>
                  <a:pt x="4085" y="10733"/>
                  <a:pt x="3958" y="10953"/>
                </a:cubicBezTo>
                <a:cubicBezTo>
                  <a:pt x="4049" y="11007"/>
                  <a:pt x="4139" y="11061"/>
                  <a:pt x="4232" y="11114"/>
                </a:cubicBezTo>
                <a:cubicBezTo>
                  <a:pt x="4374" y="11198"/>
                  <a:pt x="4519" y="11274"/>
                  <a:pt x="4658" y="11360"/>
                </a:cubicBezTo>
                <a:cubicBezTo>
                  <a:pt x="4680" y="11374"/>
                  <a:pt x="4697" y="11381"/>
                  <a:pt x="4711" y="11381"/>
                </a:cubicBezTo>
                <a:cubicBezTo>
                  <a:pt x="4733" y="11381"/>
                  <a:pt x="4748" y="11362"/>
                  <a:pt x="4767" y="11329"/>
                </a:cubicBezTo>
                <a:cubicBezTo>
                  <a:pt x="4891" y="11111"/>
                  <a:pt x="5020" y="10897"/>
                  <a:pt x="5143" y="10679"/>
                </a:cubicBezTo>
                <a:cubicBezTo>
                  <a:pt x="5161" y="10649"/>
                  <a:pt x="5175" y="10638"/>
                  <a:pt x="5197" y="10638"/>
                </a:cubicBezTo>
                <a:cubicBezTo>
                  <a:pt x="5207" y="10638"/>
                  <a:pt x="5220" y="10640"/>
                  <a:pt x="5236" y="10645"/>
                </a:cubicBezTo>
                <a:cubicBezTo>
                  <a:pt x="5598" y="10758"/>
                  <a:pt x="5965" y="10846"/>
                  <a:pt x="6344" y="10890"/>
                </a:cubicBezTo>
                <a:cubicBezTo>
                  <a:pt x="6521" y="10909"/>
                  <a:pt x="6701" y="10934"/>
                  <a:pt x="6886" y="10957"/>
                </a:cubicBezTo>
                <a:lnTo>
                  <a:pt x="6886" y="11963"/>
                </a:lnTo>
                <a:lnTo>
                  <a:pt x="7783" y="11963"/>
                </a:lnTo>
                <a:lnTo>
                  <a:pt x="7783" y="10957"/>
                </a:lnTo>
                <a:cubicBezTo>
                  <a:pt x="8032" y="10928"/>
                  <a:pt x="8272" y="10909"/>
                  <a:pt x="8507" y="10869"/>
                </a:cubicBezTo>
                <a:cubicBezTo>
                  <a:pt x="8747" y="10827"/>
                  <a:pt x="8983" y="10765"/>
                  <a:pt x="9222" y="10710"/>
                </a:cubicBezTo>
                <a:cubicBezTo>
                  <a:pt x="9297" y="10692"/>
                  <a:pt x="9373" y="10679"/>
                  <a:pt x="9445" y="10649"/>
                </a:cubicBezTo>
                <a:cubicBezTo>
                  <a:pt x="9459" y="10644"/>
                  <a:pt x="9470" y="10642"/>
                  <a:pt x="9480" y="10642"/>
                </a:cubicBezTo>
                <a:cubicBezTo>
                  <a:pt x="9510" y="10642"/>
                  <a:pt x="9523" y="10665"/>
                  <a:pt x="9540" y="10693"/>
                </a:cubicBezTo>
                <a:cubicBezTo>
                  <a:pt x="9662" y="10904"/>
                  <a:pt x="9783" y="11113"/>
                  <a:pt x="9903" y="11324"/>
                </a:cubicBezTo>
                <a:cubicBezTo>
                  <a:pt x="9922" y="11357"/>
                  <a:pt x="9941" y="11382"/>
                  <a:pt x="9970" y="11382"/>
                </a:cubicBezTo>
                <a:cubicBezTo>
                  <a:pt x="9983" y="11382"/>
                  <a:pt x="9997" y="11378"/>
                  <a:pt x="10015" y="11368"/>
                </a:cubicBezTo>
                <a:cubicBezTo>
                  <a:pt x="10240" y="11234"/>
                  <a:pt x="10469" y="11102"/>
                  <a:pt x="10695" y="10967"/>
                </a:cubicBezTo>
                <a:cubicBezTo>
                  <a:pt x="10699" y="10965"/>
                  <a:pt x="10702" y="10959"/>
                  <a:pt x="10711" y="10946"/>
                </a:cubicBezTo>
                <a:cubicBezTo>
                  <a:pt x="10589" y="10736"/>
                  <a:pt x="10468" y="10523"/>
                  <a:pt x="10344" y="10308"/>
                </a:cubicBezTo>
                <a:cubicBezTo>
                  <a:pt x="10519" y="10217"/>
                  <a:pt x="10695" y="10137"/>
                  <a:pt x="10856" y="10035"/>
                </a:cubicBezTo>
                <a:cubicBezTo>
                  <a:pt x="11194" y="9823"/>
                  <a:pt x="11533" y="9610"/>
                  <a:pt x="11860" y="9377"/>
                </a:cubicBezTo>
                <a:cubicBezTo>
                  <a:pt x="12294" y="9067"/>
                  <a:pt x="12683" y="8700"/>
                  <a:pt x="13040" y="8305"/>
                </a:cubicBezTo>
                <a:cubicBezTo>
                  <a:pt x="13341" y="7968"/>
                  <a:pt x="13620" y="7609"/>
                  <a:pt x="13898" y="7249"/>
                </a:cubicBezTo>
                <a:cubicBezTo>
                  <a:pt x="14186" y="6882"/>
                  <a:pt x="14426" y="6482"/>
                  <a:pt x="14633" y="6061"/>
                </a:cubicBezTo>
                <a:cubicBezTo>
                  <a:pt x="14662" y="6002"/>
                  <a:pt x="14660" y="5960"/>
                  <a:pt x="14633" y="5901"/>
                </a:cubicBezTo>
                <a:cubicBezTo>
                  <a:pt x="14381" y="5382"/>
                  <a:pt x="14063" y="4905"/>
                  <a:pt x="13708" y="4452"/>
                </a:cubicBezTo>
                <a:cubicBezTo>
                  <a:pt x="13525" y="4217"/>
                  <a:pt x="13333" y="3989"/>
                  <a:pt x="13132" y="3769"/>
                </a:cubicBezTo>
                <a:cubicBezTo>
                  <a:pt x="12938" y="3555"/>
                  <a:pt x="12741" y="3342"/>
                  <a:pt x="12528" y="3147"/>
                </a:cubicBezTo>
                <a:cubicBezTo>
                  <a:pt x="12083" y="2742"/>
                  <a:pt x="11612" y="2363"/>
                  <a:pt x="11086" y="2063"/>
                </a:cubicBezTo>
                <a:cubicBezTo>
                  <a:pt x="10843" y="1924"/>
                  <a:pt x="10595" y="1790"/>
                  <a:pt x="10344" y="1651"/>
                </a:cubicBezTo>
                <a:cubicBezTo>
                  <a:pt x="10465" y="1442"/>
                  <a:pt x="10588" y="1228"/>
                  <a:pt x="10712" y="1009"/>
                </a:cubicBezTo>
                <a:cubicBezTo>
                  <a:pt x="10538" y="907"/>
                  <a:pt x="10369" y="810"/>
                  <a:pt x="10204" y="713"/>
                </a:cubicBezTo>
                <a:cubicBezTo>
                  <a:pt x="10145" y="678"/>
                  <a:pt x="10084" y="643"/>
                  <a:pt x="10028" y="606"/>
                </a:cubicBezTo>
                <a:cubicBezTo>
                  <a:pt x="10005" y="593"/>
                  <a:pt x="9985" y="585"/>
                  <a:pt x="9968" y="585"/>
                </a:cubicBezTo>
                <a:cubicBezTo>
                  <a:pt x="9941" y="585"/>
                  <a:pt x="9919" y="602"/>
                  <a:pt x="9897" y="641"/>
                </a:cubicBezTo>
                <a:cubicBezTo>
                  <a:pt x="9780" y="854"/>
                  <a:pt x="9656" y="1061"/>
                  <a:pt x="9537" y="1272"/>
                </a:cubicBezTo>
                <a:cubicBezTo>
                  <a:pt x="9520" y="1303"/>
                  <a:pt x="9506" y="1322"/>
                  <a:pt x="9474" y="1322"/>
                </a:cubicBezTo>
                <a:cubicBezTo>
                  <a:pt x="9465" y="1322"/>
                  <a:pt x="9454" y="1320"/>
                  <a:pt x="9442" y="1317"/>
                </a:cubicBezTo>
                <a:cubicBezTo>
                  <a:pt x="9144" y="1241"/>
                  <a:pt x="8845" y="1168"/>
                  <a:pt x="8545" y="1105"/>
                </a:cubicBezTo>
                <a:cubicBezTo>
                  <a:pt x="8384" y="1072"/>
                  <a:pt x="8219" y="1059"/>
                  <a:pt x="8057" y="1039"/>
                </a:cubicBezTo>
                <a:cubicBezTo>
                  <a:pt x="7966" y="1028"/>
                  <a:pt x="7877" y="1021"/>
                  <a:pt x="7781" y="1012"/>
                </a:cubicBezTo>
                <a:lnTo>
                  <a:pt x="7781" y="1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1"/>
          <p:cNvSpPr/>
          <p:nvPr/>
        </p:nvSpPr>
        <p:spPr>
          <a:xfrm>
            <a:off x="6643669" y="3488943"/>
            <a:ext cx="372464" cy="457797"/>
          </a:xfrm>
          <a:custGeom>
            <a:avLst/>
            <a:gdLst/>
            <a:ahLst/>
            <a:cxnLst/>
            <a:rect l="l" t="t" r="r" b="b"/>
            <a:pathLst>
              <a:path w="11916" h="14646" extrusionOk="0">
                <a:moveTo>
                  <a:pt x="4937" y="4388"/>
                </a:moveTo>
                <a:cubicBezTo>
                  <a:pt x="4932" y="4388"/>
                  <a:pt x="4928" y="4388"/>
                  <a:pt x="4923" y="4388"/>
                </a:cubicBezTo>
                <a:cubicBezTo>
                  <a:pt x="4473" y="4392"/>
                  <a:pt x="4146" y="4718"/>
                  <a:pt x="4127" y="5166"/>
                </a:cubicBezTo>
                <a:cubicBezTo>
                  <a:pt x="4110" y="5626"/>
                  <a:pt x="4485" y="5986"/>
                  <a:pt x="4916" y="5990"/>
                </a:cubicBezTo>
                <a:cubicBezTo>
                  <a:pt x="4918" y="5990"/>
                  <a:pt x="4921" y="5990"/>
                  <a:pt x="4924" y="5990"/>
                </a:cubicBezTo>
                <a:cubicBezTo>
                  <a:pt x="5353" y="5990"/>
                  <a:pt x="5747" y="5628"/>
                  <a:pt x="5717" y="5197"/>
                </a:cubicBezTo>
                <a:cubicBezTo>
                  <a:pt x="5736" y="4703"/>
                  <a:pt x="5347" y="4388"/>
                  <a:pt x="4937" y="4388"/>
                </a:cubicBezTo>
                <a:close/>
                <a:moveTo>
                  <a:pt x="4930" y="2554"/>
                </a:moveTo>
                <a:cubicBezTo>
                  <a:pt x="4076" y="2554"/>
                  <a:pt x="2974" y="2990"/>
                  <a:pt x="2477" y="4231"/>
                </a:cubicBezTo>
                <a:cubicBezTo>
                  <a:pt x="2052" y="5298"/>
                  <a:pt x="2405" y="6431"/>
                  <a:pt x="3093" y="7066"/>
                </a:cubicBezTo>
                <a:cubicBezTo>
                  <a:pt x="3308" y="6812"/>
                  <a:pt x="3525" y="6561"/>
                  <a:pt x="3732" y="6321"/>
                </a:cubicBezTo>
                <a:cubicBezTo>
                  <a:pt x="3652" y="6210"/>
                  <a:pt x="3576" y="6109"/>
                  <a:pt x="3512" y="6003"/>
                </a:cubicBezTo>
                <a:cubicBezTo>
                  <a:pt x="3311" y="5669"/>
                  <a:pt x="3239" y="5306"/>
                  <a:pt x="3308" y="4924"/>
                </a:cubicBezTo>
                <a:cubicBezTo>
                  <a:pt x="3381" y="4521"/>
                  <a:pt x="3575" y="4183"/>
                  <a:pt x="3900" y="3919"/>
                </a:cubicBezTo>
                <a:cubicBezTo>
                  <a:pt x="4204" y="3673"/>
                  <a:pt x="4542" y="3549"/>
                  <a:pt x="4904" y="3549"/>
                </a:cubicBezTo>
                <a:cubicBezTo>
                  <a:pt x="5014" y="3549"/>
                  <a:pt x="5127" y="3560"/>
                  <a:pt x="5241" y="3584"/>
                </a:cubicBezTo>
                <a:cubicBezTo>
                  <a:pt x="5835" y="3704"/>
                  <a:pt x="6245" y="4069"/>
                  <a:pt x="6465" y="4637"/>
                </a:cubicBezTo>
                <a:cubicBezTo>
                  <a:pt x="6476" y="4668"/>
                  <a:pt x="6485" y="4682"/>
                  <a:pt x="6506" y="4682"/>
                </a:cubicBezTo>
                <a:cubicBezTo>
                  <a:pt x="6515" y="4682"/>
                  <a:pt x="6525" y="4680"/>
                  <a:pt x="6540" y="4675"/>
                </a:cubicBezTo>
                <a:cubicBezTo>
                  <a:pt x="6837" y="4589"/>
                  <a:pt x="7136" y="4508"/>
                  <a:pt x="7432" y="4428"/>
                </a:cubicBezTo>
                <a:cubicBezTo>
                  <a:pt x="7407" y="4256"/>
                  <a:pt x="7280" y="3840"/>
                  <a:pt x="6815" y="3352"/>
                </a:cubicBezTo>
                <a:cubicBezTo>
                  <a:pt x="6327" y="2843"/>
                  <a:pt x="5710" y="2580"/>
                  <a:pt x="5005" y="2555"/>
                </a:cubicBezTo>
                <a:cubicBezTo>
                  <a:pt x="4980" y="2554"/>
                  <a:pt x="4955" y="2554"/>
                  <a:pt x="4930" y="2554"/>
                </a:cubicBezTo>
                <a:close/>
                <a:moveTo>
                  <a:pt x="6249" y="6176"/>
                </a:moveTo>
                <a:cubicBezTo>
                  <a:pt x="6147" y="6273"/>
                  <a:pt x="6060" y="6367"/>
                  <a:pt x="5961" y="6447"/>
                </a:cubicBezTo>
                <a:cubicBezTo>
                  <a:pt x="5656" y="6698"/>
                  <a:pt x="5314" y="6826"/>
                  <a:pt x="4940" y="6826"/>
                </a:cubicBezTo>
                <a:cubicBezTo>
                  <a:pt x="4855" y="6826"/>
                  <a:pt x="4769" y="6819"/>
                  <a:pt x="4681" y="6806"/>
                </a:cubicBezTo>
                <a:cubicBezTo>
                  <a:pt x="4669" y="6804"/>
                  <a:pt x="4659" y="6804"/>
                  <a:pt x="4651" y="6804"/>
                </a:cubicBezTo>
                <a:cubicBezTo>
                  <a:pt x="4603" y="6804"/>
                  <a:pt x="4607" y="6832"/>
                  <a:pt x="4602" y="6877"/>
                </a:cubicBezTo>
                <a:cubicBezTo>
                  <a:pt x="4587" y="7023"/>
                  <a:pt x="4568" y="7168"/>
                  <a:pt x="4552" y="7315"/>
                </a:cubicBezTo>
                <a:cubicBezTo>
                  <a:pt x="4538" y="7448"/>
                  <a:pt x="4522" y="7584"/>
                  <a:pt x="4514" y="7718"/>
                </a:cubicBezTo>
                <a:cubicBezTo>
                  <a:pt x="4513" y="7744"/>
                  <a:pt x="4544" y="7792"/>
                  <a:pt x="4561" y="7792"/>
                </a:cubicBezTo>
                <a:cubicBezTo>
                  <a:pt x="4712" y="7796"/>
                  <a:pt x="4862" y="7805"/>
                  <a:pt x="5012" y="7805"/>
                </a:cubicBezTo>
                <a:cubicBezTo>
                  <a:pt x="5106" y="7805"/>
                  <a:pt x="5200" y="7801"/>
                  <a:pt x="5294" y="7791"/>
                </a:cubicBezTo>
                <a:cubicBezTo>
                  <a:pt x="5605" y="7759"/>
                  <a:pt x="5898" y="7653"/>
                  <a:pt x="6173" y="7507"/>
                </a:cubicBezTo>
                <a:cubicBezTo>
                  <a:pt x="6230" y="7477"/>
                  <a:pt x="6251" y="7448"/>
                  <a:pt x="6251" y="7385"/>
                </a:cubicBezTo>
                <a:cubicBezTo>
                  <a:pt x="6246" y="7048"/>
                  <a:pt x="6249" y="6708"/>
                  <a:pt x="6249" y="6371"/>
                </a:cubicBezTo>
                <a:lnTo>
                  <a:pt x="6249" y="6176"/>
                </a:lnTo>
                <a:close/>
                <a:moveTo>
                  <a:pt x="10107" y="6049"/>
                </a:moveTo>
                <a:cubicBezTo>
                  <a:pt x="10039" y="6696"/>
                  <a:pt x="9973" y="7341"/>
                  <a:pt x="9906" y="7993"/>
                </a:cubicBezTo>
                <a:lnTo>
                  <a:pt x="9100" y="7993"/>
                </a:lnTo>
                <a:cubicBezTo>
                  <a:pt x="9031" y="7348"/>
                  <a:pt x="8964" y="6704"/>
                  <a:pt x="8896" y="6049"/>
                </a:cubicBezTo>
                <a:close/>
                <a:moveTo>
                  <a:pt x="9502" y="8199"/>
                </a:moveTo>
                <a:cubicBezTo>
                  <a:pt x="9685" y="8199"/>
                  <a:pt x="9869" y="8272"/>
                  <a:pt x="9984" y="8417"/>
                </a:cubicBezTo>
                <a:cubicBezTo>
                  <a:pt x="10055" y="8509"/>
                  <a:pt x="10101" y="8612"/>
                  <a:pt x="10089" y="8729"/>
                </a:cubicBezTo>
                <a:cubicBezTo>
                  <a:pt x="10115" y="8987"/>
                  <a:pt x="9847" y="9243"/>
                  <a:pt x="9583" y="9262"/>
                </a:cubicBezTo>
                <a:cubicBezTo>
                  <a:pt x="9559" y="9264"/>
                  <a:pt x="9535" y="9265"/>
                  <a:pt x="9511" y="9265"/>
                </a:cubicBezTo>
                <a:cubicBezTo>
                  <a:pt x="9355" y="9265"/>
                  <a:pt x="9215" y="9225"/>
                  <a:pt x="9088" y="9117"/>
                </a:cubicBezTo>
                <a:cubicBezTo>
                  <a:pt x="8884" y="8943"/>
                  <a:pt x="8854" y="8623"/>
                  <a:pt x="9019" y="8417"/>
                </a:cubicBezTo>
                <a:cubicBezTo>
                  <a:pt x="9136" y="8271"/>
                  <a:pt x="9319" y="8199"/>
                  <a:pt x="9502" y="8199"/>
                </a:cubicBezTo>
                <a:close/>
                <a:moveTo>
                  <a:pt x="3670" y="7694"/>
                </a:moveTo>
                <a:cubicBezTo>
                  <a:pt x="3642" y="7715"/>
                  <a:pt x="3629" y="7719"/>
                  <a:pt x="3620" y="7731"/>
                </a:cubicBezTo>
                <a:cubicBezTo>
                  <a:pt x="3494" y="7879"/>
                  <a:pt x="3365" y="8027"/>
                  <a:pt x="3245" y="8181"/>
                </a:cubicBezTo>
                <a:cubicBezTo>
                  <a:pt x="3025" y="8458"/>
                  <a:pt x="2807" y="8735"/>
                  <a:pt x="2594" y="9016"/>
                </a:cubicBezTo>
                <a:cubicBezTo>
                  <a:pt x="2483" y="9164"/>
                  <a:pt x="2373" y="9314"/>
                  <a:pt x="2407" y="9523"/>
                </a:cubicBezTo>
                <a:cubicBezTo>
                  <a:pt x="2446" y="9764"/>
                  <a:pt x="2615" y="9939"/>
                  <a:pt x="2880" y="9954"/>
                </a:cubicBezTo>
                <a:cubicBezTo>
                  <a:pt x="2889" y="9955"/>
                  <a:pt x="2897" y="9955"/>
                  <a:pt x="2906" y="9955"/>
                </a:cubicBezTo>
                <a:cubicBezTo>
                  <a:pt x="3130" y="9955"/>
                  <a:pt x="3332" y="9791"/>
                  <a:pt x="3377" y="9580"/>
                </a:cubicBezTo>
                <a:cubicBezTo>
                  <a:pt x="3428" y="9339"/>
                  <a:pt x="3466" y="9094"/>
                  <a:pt x="3506" y="8851"/>
                </a:cubicBezTo>
                <a:cubicBezTo>
                  <a:pt x="3541" y="8640"/>
                  <a:pt x="3569" y="8430"/>
                  <a:pt x="3598" y="8220"/>
                </a:cubicBezTo>
                <a:cubicBezTo>
                  <a:pt x="3622" y="8050"/>
                  <a:pt x="3644" y="7885"/>
                  <a:pt x="3670" y="7694"/>
                </a:cubicBezTo>
                <a:close/>
                <a:moveTo>
                  <a:pt x="9510" y="4718"/>
                </a:moveTo>
                <a:cubicBezTo>
                  <a:pt x="9496" y="4718"/>
                  <a:pt x="9483" y="4719"/>
                  <a:pt x="9471" y="4722"/>
                </a:cubicBezTo>
                <a:cubicBezTo>
                  <a:pt x="9191" y="4785"/>
                  <a:pt x="8914" y="4872"/>
                  <a:pt x="8635" y="4949"/>
                </a:cubicBezTo>
                <a:cubicBezTo>
                  <a:pt x="8316" y="5039"/>
                  <a:pt x="7995" y="5131"/>
                  <a:pt x="7675" y="5222"/>
                </a:cubicBezTo>
                <a:lnTo>
                  <a:pt x="7088" y="5393"/>
                </a:lnTo>
                <a:lnTo>
                  <a:pt x="7088" y="5503"/>
                </a:lnTo>
                <a:lnTo>
                  <a:pt x="7088" y="8827"/>
                </a:lnTo>
                <a:cubicBezTo>
                  <a:pt x="7088" y="8950"/>
                  <a:pt x="7094" y="9075"/>
                  <a:pt x="7107" y="9198"/>
                </a:cubicBezTo>
                <a:cubicBezTo>
                  <a:pt x="7126" y="9377"/>
                  <a:pt x="7221" y="9522"/>
                  <a:pt x="7375" y="9613"/>
                </a:cubicBezTo>
                <a:cubicBezTo>
                  <a:pt x="7605" y="9746"/>
                  <a:pt x="7841" y="9869"/>
                  <a:pt x="8075" y="9991"/>
                </a:cubicBezTo>
                <a:cubicBezTo>
                  <a:pt x="8530" y="10231"/>
                  <a:pt x="8984" y="10470"/>
                  <a:pt x="9438" y="10712"/>
                </a:cubicBezTo>
                <a:cubicBezTo>
                  <a:pt x="9459" y="10723"/>
                  <a:pt x="9478" y="10729"/>
                  <a:pt x="9496" y="10729"/>
                </a:cubicBezTo>
                <a:cubicBezTo>
                  <a:pt x="9516" y="10729"/>
                  <a:pt x="9536" y="10722"/>
                  <a:pt x="9559" y="10709"/>
                </a:cubicBezTo>
                <a:cubicBezTo>
                  <a:pt x="9935" y="10508"/>
                  <a:pt x="10312" y="10306"/>
                  <a:pt x="10690" y="10107"/>
                </a:cubicBezTo>
                <a:cubicBezTo>
                  <a:pt x="10958" y="9964"/>
                  <a:pt x="11229" y="9825"/>
                  <a:pt x="11499" y="9682"/>
                </a:cubicBezTo>
                <a:cubicBezTo>
                  <a:pt x="11571" y="9643"/>
                  <a:pt x="11640" y="9601"/>
                  <a:pt x="11701" y="9550"/>
                </a:cubicBezTo>
                <a:cubicBezTo>
                  <a:pt x="11859" y="9416"/>
                  <a:pt x="11909" y="9230"/>
                  <a:pt x="11909" y="9035"/>
                </a:cubicBezTo>
                <a:cubicBezTo>
                  <a:pt x="11911" y="7853"/>
                  <a:pt x="11911" y="6671"/>
                  <a:pt x="11911" y="5490"/>
                </a:cubicBezTo>
                <a:cubicBezTo>
                  <a:pt x="11915" y="5459"/>
                  <a:pt x="11915" y="5430"/>
                  <a:pt x="11915" y="5396"/>
                </a:cubicBezTo>
                <a:cubicBezTo>
                  <a:pt x="11871" y="5380"/>
                  <a:pt x="11830" y="5363"/>
                  <a:pt x="11789" y="5351"/>
                </a:cubicBezTo>
                <a:cubicBezTo>
                  <a:pt x="11105" y="5156"/>
                  <a:pt x="10422" y="4964"/>
                  <a:pt x="9737" y="4774"/>
                </a:cubicBezTo>
                <a:cubicBezTo>
                  <a:pt x="9663" y="4754"/>
                  <a:pt x="9582" y="4718"/>
                  <a:pt x="9510" y="4718"/>
                </a:cubicBezTo>
                <a:close/>
                <a:moveTo>
                  <a:pt x="8181" y="11914"/>
                </a:moveTo>
                <a:lnTo>
                  <a:pt x="8181" y="12724"/>
                </a:lnTo>
                <a:lnTo>
                  <a:pt x="7351" y="12724"/>
                </a:lnTo>
                <a:lnTo>
                  <a:pt x="7351" y="11914"/>
                </a:lnTo>
                <a:close/>
                <a:moveTo>
                  <a:pt x="2640" y="11915"/>
                </a:moveTo>
                <a:lnTo>
                  <a:pt x="2640" y="12727"/>
                </a:lnTo>
                <a:lnTo>
                  <a:pt x="1810" y="12727"/>
                </a:lnTo>
                <a:lnTo>
                  <a:pt x="1810" y="11915"/>
                </a:lnTo>
                <a:close/>
                <a:moveTo>
                  <a:pt x="6208" y="11916"/>
                </a:moveTo>
                <a:lnTo>
                  <a:pt x="6208" y="12728"/>
                </a:lnTo>
                <a:lnTo>
                  <a:pt x="3806" y="12728"/>
                </a:lnTo>
                <a:lnTo>
                  <a:pt x="3806" y="11916"/>
                </a:lnTo>
                <a:close/>
                <a:moveTo>
                  <a:pt x="0" y="0"/>
                </a:moveTo>
                <a:lnTo>
                  <a:pt x="0" y="14645"/>
                </a:lnTo>
                <a:lnTo>
                  <a:pt x="9841" y="14645"/>
                </a:lnTo>
                <a:lnTo>
                  <a:pt x="9841" y="11505"/>
                </a:lnTo>
                <a:cubicBezTo>
                  <a:pt x="9742" y="11556"/>
                  <a:pt x="9652" y="11609"/>
                  <a:pt x="9557" y="11651"/>
                </a:cubicBezTo>
                <a:cubicBezTo>
                  <a:pt x="9542" y="11659"/>
                  <a:pt x="9523" y="11662"/>
                  <a:pt x="9502" y="11662"/>
                </a:cubicBezTo>
                <a:cubicBezTo>
                  <a:pt x="9482" y="11662"/>
                  <a:pt x="9462" y="11659"/>
                  <a:pt x="9446" y="11651"/>
                </a:cubicBezTo>
                <a:cubicBezTo>
                  <a:pt x="9358" y="11612"/>
                  <a:pt x="9277" y="11562"/>
                  <a:pt x="9192" y="11518"/>
                </a:cubicBezTo>
                <a:cubicBezTo>
                  <a:pt x="8883" y="11354"/>
                  <a:pt x="8574" y="11191"/>
                  <a:pt x="8266" y="11028"/>
                </a:cubicBezTo>
                <a:cubicBezTo>
                  <a:pt x="7861" y="10813"/>
                  <a:pt x="7458" y="10602"/>
                  <a:pt x="7055" y="10385"/>
                </a:cubicBezTo>
                <a:cubicBezTo>
                  <a:pt x="6525" y="10099"/>
                  <a:pt x="6274" y="9643"/>
                  <a:pt x="6251" y="9053"/>
                </a:cubicBezTo>
                <a:cubicBezTo>
                  <a:pt x="6242" y="8839"/>
                  <a:pt x="6249" y="8622"/>
                  <a:pt x="6249" y="8392"/>
                </a:cubicBezTo>
                <a:lnTo>
                  <a:pt x="6249" y="8392"/>
                </a:lnTo>
                <a:cubicBezTo>
                  <a:pt x="5946" y="8512"/>
                  <a:pt x="5646" y="8607"/>
                  <a:pt x="5333" y="8626"/>
                </a:cubicBezTo>
                <a:cubicBezTo>
                  <a:pt x="5218" y="8634"/>
                  <a:pt x="5102" y="8636"/>
                  <a:pt x="4987" y="8636"/>
                </a:cubicBezTo>
                <a:cubicBezTo>
                  <a:pt x="4789" y="8636"/>
                  <a:pt x="4592" y="8629"/>
                  <a:pt x="4398" y="8629"/>
                </a:cubicBezTo>
                <a:cubicBezTo>
                  <a:pt x="4338" y="8966"/>
                  <a:pt x="4281" y="9302"/>
                  <a:pt x="4217" y="9636"/>
                </a:cubicBezTo>
                <a:cubicBezTo>
                  <a:pt x="4155" y="9967"/>
                  <a:pt x="4014" y="10255"/>
                  <a:pt x="3745" y="10474"/>
                </a:cubicBezTo>
                <a:cubicBezTo>
                  <a:pt x="3492" y="10681"/>
                  <a:pt x="3211" y="10790"/>
                  <a:pt x="2903" y="10790"/>
                </a:cubicBezTo>
                <a:cubicBezTo>
                  <a:pt x="2834" y="10790"/>
                  <a:pt x="2763" y="10784"/>
                  <a:pt x="2691" y="10773"/>
                </a:cubicBezTo>
                <a:cubicBezTo>
                  <a:pt x="2310" y="10713"/>
                  <a:pt x="2004" y="10511"/>
                  <a:pt x="1788" y="10193"/>
                </a:cubicBezTo>
                <a:cubicBezTo>
                  <a:pt x="1642" y="9976"/>
                  <a:pt x="1563" y="9734"/>
                  <a:pt x="1564" y="9468"/>
                </a:cubicBezTo>
                <a:cubicBezTo>
                  <a:pt x="1567" y="9230"/>
                  <a:pt x="1605" y="9003"/>
                  <a:pt x="1738" y="8810"/>
                </a:cubicBezTo>
                <a:cubicBezTo>
                  <a:pt x="1996" y="8436"/>
                  <a:pt x="2270" y="8072"/>
                  <a:pt x="2531" y="7712"/>
                </a:cubicBezTo>
                <a:cubicBezTo>
                  <a:pt x="1466" y="6569"/>
                  <a:pt x="1123" y="5250"/>
                  <a:pt x="1768" y="3784"/>
                </a:cubicBezTo>
                <a:cubicBezTo>
                  <a:pt x="2310" y="2555"/>
                  <a:pt x="3308" y="1881"/>
                  <a:pt x="4649" y="1731"/>
                </a:cubicBezTo>
                <a:cubicBezTo>
                  <a:pt x="4699" y="1730"/>
                  <a:pt x="4749" y="1729"/>
                  <a:pt x="4799" y="1729"/>
                </a:cubicBezTo>
                <a:cubicBezTo>
                  <a:pt x="6514" y="1729"/>
                  <a:pt x="7638" y="2593"/>
                  <a:pt x="8267" y="4189"/>
                </a:cubicBezTo>
                <a:cubicBezTo>
                  <a:pt x="8618" y="4091"/>
                  <a:pt x="8978" y="3995"/>
                  <a:pt x="9336" y="3884"/>
                </a:cubicBezTo>
                <a:cubicBezTo>
                  <a:pt x="9392" y="3866"/>
                  <a:pt x="9445" y="3859"/>
                  <a:pt x="9498" y="3859"/>
                </a:cubicBezTo>
                <a:cubicBezTo>
                  <a:pt x="9564" y="3859"/>
                  <a:pt x="9628" y="3871"/>
                  <a:pt x="9693" y="3891"/>
                </a:cubicBezTo>
                <a:cubicBezTo>
                  <a:pt x="9742" y="3906"/>
                  <a:pt x="9792" y="3921"/>
                  <a:pt x="9844" y="3935"/>
                </a:cubicBezTo>
                <a:lnTo>
                  <a:pt x="9844" y="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3" name="Google Shape;373;p41"/>
          <p:cNvSpPr/>
          <p:nvPr/>
        </p:nvSpPr>
        <p:spPr>
          <a:xfrm>
            <a:off x="2276572" y="3564877"/>
            <a:ext cx="326516" cy="457860"/>
          </a:xfrm>
          <a:custGeom>
            <a:avLst/>
            <a:gdLst/>
            <a:ahLst/>
            <a:cxnLst/>
            <a:rect l="l" t="t" r="r" b="b"/>
            <a:pathLst>
              <a:path w="10446" h="14648" extrusionOk="0">
                <a:moveTo>
                  <a:pt x="4502" y="2762"/>
                </a:moveTo>
                <a:lnTo>
                  <a:pt x="4502" y="3591"/>
                </a:lnTo>
                <a:lnTo>
                  <a:pt x="3673" y="3591"/>
                </a:lnTo>
                <a:lnTo>
                  <a:pt x="3673" y="2762"/>
                </a:lnTo>
                <a:close/>
                <a:moveTo>
                  <a:pt x="2801" y="2763"/>
                </a:moveTo>
                <a:lnTo>
                  <a:pt x="2801" y="3594"/>
                </a:lnTo>
                <a:lnTo>
                  <a:pt x="1971" y="3594"/>
                </a:lnTo>
                <a:lnTo>
                  <a:pt x="1971" y="2763"/>
                </a:lnTo>
                <a:close/>
                <a:moveTo>
                  <a:pt x="6201" y="2766"/>
                </a:moveTo>
                <a:lnTo>
                  <a:pt x="6201" y="3596"/>
                </a:lnTo>
                <a:lnTo>
                  <a:pt x="5390" y="3596"/>
                </a:lnTo>
                <a:lnTo>
                  <a:pt x="5390" y="2766"/>
                </a:lnTo>
                <a:close/>
                <a:moveTo>
                  <a:pt x="6204" y="4466"/>
                </a:moveTo>
                <a:lnTo>
                  <a:pt x="6204" y="5297"/>
                </a:lnTo>
                <a:lnTo>
                  <a:pt x="1976" y="5297"/>
                </a:lnTo>
                <a:lnTo>
                  <a:pt x="1976" y="4466"/>
                </a:lnTo>
                <a:close/>
                <a:moveTo>
                  <a:pt x="5289" y="6184"/>
                </a:moveTo>
                <a:lnTo>
                  <a:pt x="5289" y="7013"/>
                </a:lnTo>
                <a:lnTo>
                  <a:pt x="4460" y="7013"/>
                </a:lnTo>
                <a:lnTo>
                  <a:pt x="4460" y="6184"/>
                </a:lnTo>
                <a:close/>
                <a:moveTo>
                  <a:pt x="3770" y="6182"/>
                </a:moveTo>
                <a:lnTo>
                  <a:pt x="3770" y="7016"/>
                </a:lnTo>
                <a:lnTo>
                  <a:pt x="2944" y="7016"/>
                </a:lnTo>
                <a:lnTo>
                  <a:pt x="2944" y="6182"/>
                </a:lnTo>
                <a:close/>
                <a:moveTo>
                  <a:pt x="8465" y="9293"/>
                </a:moveTo>
                <a:cubicBezTo>
                  <a:pt x="8727" y="9293"/>
                  <a:pt x="9004" y="9525"/>
                  <a:pt x="8984" y="9843"/>
                </a:cubicBezTo>
                <a:cubicBezTo>
                  <a:pt x="9007" y="10096"/>
                  <a:pt x="8749" y="10373"/>
                  <a:pt x="8461" y="10373"/>
                </a:cubicBezTo>
                <a:cubicBezTo>
                  <a:pt x="8452" y="10373"/>
                  <a:pt x="8443" y="10373"/>
                  <a:pt x="8434" y="10372"/>
                </a:cubicBezTo>
                <a:cubicBezTo>
                  <a:pt x="8118" y="10353"/>
                  <a:pt x="7910" y="10113"/>
                  <a:pt x="7913" y="9828"/>
                </a:cubicBezTo>
                <a:cubicBezTo>
                  <a:pt x="7914" y="9531"/>
                  <a:pt x="8135" y="9304"/>
                  <a:pt x="8455" y="9294"/>
                </a:cubicBezTo>
                <a:cubicBezTo>
                  <a:pt x="8458" y="9293"/>
                  <a:pt x="8461" y="9293"/>
                  <a:pt x="8465" y="9293"/>
                </a:cubicBezTo>
                <a:close/>
                <a:moveTo>
                  <a:pt x="8460" y="7902"/>
                </a:moveTo>
                <a:cubicBezTo>
                  <a:pt x="8367" y="7902"/>
                  <a:pt x="8274" y="7908"/>
                  <a:pt x="8179" y="7922"/>
                </a:cubicBezTo>
                <a:cubicBezTo>
                  <a:pt x="7929" y="7958"/>
                  <a:pt x="7688" y="8042"/>
                  <a:pt x="7469" y="8174"/>
                </a:cubicBezTo>
                <a:cubicBezTo>
                  <a:pt x="7203" y="8335"/>
                  <a:pt x="6978" y="8537"/>
                  <a:pt x="6821" y="8801"/>
                </a:cubicBezTo>
                <a:cubicBezTo>
                  <a:pt x="6718" y="8974"/>
                  <a:pt x="6639" y="9165"/>
                  <a:pt x="6564" y="9351"/>
                </a:cubicBezTo>
                <a:cubicBezTo>
                  <a:pt x="6537" y="9421"/>
                  <a:pt x="6506" y="9437"/>
                  <a:pt x="6435" y="9437"/>
                </a:cubicBezTo>
                <a:cubicBezTo>
                  <a:pt x="5222" y="9436"/>
                  <a:pt x="4004" y="9436"/>
                  <a:pt x="2791" y="9436"/>
                </a:cubicBezTo>
                <a:lnTo>
                  <a:pt x="2684" y="9436"/>
                </a:lnTo>
                <a:lnTo>
                  <a:pt x="2684" y="10259"/>
                </a:lnTo>
                <a:lnTo>
                  <a:pt x="2796" y="10259"/>
                </a:lnTo>
                <a:cubicBezTo>
                  <a:pt x="3485" y="10259"/>
                  <a:pt x="4174" y="10260"/>
                  <a:pt x="4863" y="10260"/>
                </a:cubicBezTo>
                <a:cubicBezTo>
                  <a:pt x="5380" y="10260"/>
                  <a:pt x="5897" y="10260"/>
                  <a:pt x="6413" y="10258"/>
                </a:cubicBezTo>
                <a:cubicBezTo>
                  <a:pt x="6507" y="10258"/>
                  <a:pt x="6545" y="10281"/>
                  <a:pt x="6578" y="10375"/>
                </a:cubicBezTo>
                <a:cubicBezTo>
                  <a:pt x="6685" y="10699"/>
                  <a:pt x="6844" y="10994"/>
                  <a:pt x="7095" y="11235"/>
                </a:cubicBezTo>
                <a:cubicBezTo>
                  <a:pt x="7480" y="11606"/>
                  <a:pt x="7940" y="11782"/>
                  <a:pt x="8465" y="11795"/>
                </a:cubicBezTo>
                <a:cubicBezTo>
                  <a:pt x="8471" y="11795"/>
                  <a:pt x="8477" y="11795"/>
                  <a:pt x="8484" y="11795"/>
                </a:cubicBezTo>
                <a:cubicBezTo>
                  <a:pt x="8610" y="11795"/>
                  <a:pt x="8739" y="11767"/>
                  <a:pt x="8865" y="11741"/>
                </a:cubicBezTo>
                <a:cubicBezTo>
                  <a:pt x="9451" y="11616"/>
                  <a:pt x="9885" y="11279"/>
                  <a:pt x="10170" y="10758"/>
                </a:cubicBezTo>
                <a:cubicBezTo>
                  <a:pt x="10392" y="10347"/>
                  <a:pt x="10445" y="9905"/>
                  <a:pt x="10354" y="9447"/>
                </a:cubicBezTo>
                <a:cubicBezTo>
                  <a:pt x="10282" y="9099"/>
                  <a:pt x="10123" y="8791"/>
                  <a:pt x="9879" y="8529"/>
                </a:cubicBezTo>
                <a:cubicBezTo>
                  <a:pt x="9686" y="8317"/>
                  <a:pt x="9456" y="8156"/>
                  <a:pt x="9192" y="8048"/>
                </a:cubicBezTo>
                <a:cubicBezTo>
                  <a:pt x="8955" y="7951"/>
                  <a:pt x="8710" y="7902"/>
                  <a:pt x="8460" y="7902"/>
                </a:cubicBezTo>
                <a:close/>
                <a:moveTo>
                  <a:pt x="0" y="1"/>
                </a:moveTo>
                <a:lnTo>
                  <a:pt x="0" y="14647"/>
                </a:lnTo>
                <a:lnTo>
                  <a:pt x="8182" y="14647"/>
                </a:lnTo>
                <a:lnTo>
                  <a:pt x="8182" y="14543"/>
                </a:lnTo>
                <a:cubicBezTo>
                  <a:pt x="8182" y="13938"/>
                  <a:pt x="8179" y="13335"/>
                  <a:pt x="8184" y="12732"/>
                </a:cubicBezTo>
                <a:cubicBezTo>
                  <a:pt x="8184" y="12645"/>
                  <a:pt x="8166" y="12602"/>
                  <a:pt x="8085" y="12602"/>
                </a:cubicBezTo>
                <a:cubicBezTo>
                  <a:pt x="8079" y="12602"/>
                  <a:pt x="8072" y="12602"/>
                  <a:pt x="8065" y="12603"/>
                </a:cubicBezTo>
                <a:cubicBezTo>
                  <a:pt x="8059" y="12603"/>
                  <a:pt x="8053" y="12603"/>
                  <a:pt x="8046" y="12603"/>
                </a:cubicBezTo>
                <a:cubicBezTo>
                  <a:pt x="8002" y="12603"/>
                  <a:pt x="7958" y="12591"/>
                  <a:pt x="7914" y="12581"/>
                </a:cubicBezTo>
                <a:cubicBezTo>
                  <a:pt x="7430" y="12469"/>
                  <a:pt x="6994" y="12264"/>
                  <a:pt x="6617" y="11930"/>
                </a:cubicBezTo>
                <a:cubicBezTo>
                  <a:pt x="6369" y="11713"/>
                  <a:pt x="6172" y="11461"/>
                  <a:pt x="6016" y="11174"/>
                </a:cubicBezTo>
                <a:cubicBezTo>
                  <a:pt x="5989" y="11124"/>
                  <a:pt x="5965" y="11102"/>
                  <a:pt x="5909" y="11102"/>
                </a:cubicBezTo>
                <a:cubicBezTo>
                  <a:pt x="5907" y="11102"/>
                  <a:pt x="5905" y="11102"/>
                  <a:pt x="5903" y="11102"/>
                </a:cubicBezTo>
                <a:cubicBezTo>
                  <a:pt x="5558" y="11105"/>
                  <a:pt x="5213" y="11105"/>
                  <a:pt x="4867" y="11105"/>
                </a:cubicBezTo>
                <a:cubicBezTo>
                  <a:pt x="4637" y="11105"/>
                  <a:pt x="4407" y="11105"/>
                  <a:pt x="4176" y="11105"/>
                </a:cubicBezTo>
                <a:cubicBezTo>
                  <a:pt x="4149" y="11105"/>
                  <a:pt x="4123" y="11106"/>
                  <a:pt x="4086" y="11108"/>
                </a:cubicBezTo>
                <a:lnTo>
                  <a:pt x="4086" y="11517"/>
                </a:lnTo>
                <a:lnTo>
                  <a:pt x="3243" y="11517"/>
                </a:lnTo>
                <a:lnTo>
                  <a:pt x="3243" y="11109"/>
                </a:lnTo>
                <a:lnTo>
                  <a:pt x="2681" y="11109"/>
                </a:lnTo>
                <a:lnTo>
                  <a:pt x="2681" y="11517"/>
                </a:lnTo>
                <a:lnTo>
                  <a:pt x="1845" y="11517"/>
                </a:lnTo>
                <a:lnTo>
                  <a:pt x="1845" y="8594"/>
                </a:lnTo>
                <a:lnTo>
                  <a:pt x="5978" y="8594"/>
                </a:lnTo>
                <a:cubicBezTo>
                  <a:pt x="6098" y="8339"/>
                  <a:pt x="6260" y="8120"/>
                  <a:pt x="6450" y="7925"/>
                </a:cubicBezTo>
                <a:cubicBezTo>
                  <a:pt x="6724" y="7640"/>
                  <a:pt x="7041" y="7413"/>
                  <a:pt x="7410" y="7275"/>
                </a:cubicBezTo>
                <a:cubicBezTo>
                  <a:pt x="7621" y="7196"/>
                  <a:pt x="7842" y="7144"/>
                  <a:pt x="8062" y="7101"/>
                </a:cubicBezTo>
                <a:cubicBezTo>
                  <a:pt x="8153" y="7084"/>
                  <a:pt x="8182" y="7064"/>
                  <a:pt x="8182" y="6972"/>
                </a:cubicBezTo>
                <a:cubicBezTo>
                  <a:pt x="8179" y="4683"/>
                  <a:pt x="8179" y="2397"/>
                  <a:pt x="8179" y="109"/>
                </a:cubicBezTo>
                <a:cubicBezTo>
                  <a:pt x="8182" y="71"/>
                  <a:pt x="8182" y="36"/>
                  <a:pt x="8182" y="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1"/>
          <p:cNvSpPr/>
          <p:nvPr/>
        </p:nvSpPr>
        <p:spPr>
          <a:xfrm>
            <a:off x="6563556" y="1369899"/>
            <a:ext cx="452577" cy="458110"/>
          </a:xfrm>
          <a:custGeom>
            <a:avLst/>
            <a:gdLst/>
            <a:ahLst/>
            <a:cxnLst/>
            <a:rect l="l" t="t" r="r" b="b"/>
            <a:pathLst>
              <a:path w="14479" h="14656" extrusionOk="0">
                <a:moveTo>
                  <a:pt x="3629" y="1"/>
                </a:moveTo>
                <a:lnTo>
                  <a:pt x="3629" y="2735"/>
                </a:lnTo>
                <a:lnTo>
                  <a:pt x="4503" y="2735"/>
                </a:lnTo>
                <a:lnTo>
                  <a:pt x="4503" y="874"/>
                </a:lnTo>
                <a:lnTo>
                  <a:pt x="6379" y="874"/>
                </a:lnTo>
                <a:lnTo>
                  <a:pt x="6379" y="1"/>
                </a:lnTo>
                <a:close/>
                <a:moveTo>
                  <a:pt x="8114" y="2"/>
                </a:moveTo>
                <a:lnTo>
                  <a:pt x="8114" y="880"/>
                </a:lnTo>
                <a:lnTo>
                  <a:pt x="9977" y="880"/>
                </a:lnTo>
                <a:lnTo>
                  <a:pt x="9977" y="2738"/>
                </a:lnTo>
                <a:lnTo>
                  <a:pt x="10847" y="2738"/>
                </a:lnTo>
                <a:lnTo>
                  <a:pt x="10847" y="2"/>
                </a:lnTo>
                <a:close/>
                <a:moveTo>
                  <a:pt x="9974" y="4283"/>
                </a:moveTo>
                <a:lnTo>
                  <a:pt x="9974" y="6149"/>
                </a:lnTo>
                <a:lnTo>
                  <a:pt x="8790" y="6149"/>
                </a:lnTo>
                <a:lnTo>
                  <a:pt x="8790" y="7018"/>
                </a:lnTo>
                <a:lnTo>
                  <a:pt x="10847" y="7018"/>
                </a:lnTo>
                <a:lnTo>
                  <a:pt x="10847" y="4283"/>
                </a:lnTo>
                <a:close/>
                <a:moveTo>
                  <a:pt x="4500" y="4284"/>
                </a:moveTo>
                <a:cubicBezTo>
                  <a:pt x="4207" y="4284"/>
                  <a:pt x="3921" y="4284"/>
                  <a:pt x="3629" y="4287"/>
                </a:cubicBezTo>
                <a:lnTo>
                  <a:pt x="3629" y="7022"/>
                </a:lnTo>
                <a:lnTo>
                  <a:pt x="5705" y="7022"/>
                </a:lnTo>
                <a:lnTo>
                  <a:pt x="5705" y="6144"/>
                </a:lnTo>
                <a:lnTo>
                  <a:pt x="4500" y="6144"/>
                </a:lnTo>
                <a:lnTo>
                  <a:pt x="4500" y="4284"/>
                </a:lnTo>
                <a:close/>
                <a:moveTo>
                  <a:pt x="10280" y="9810"/>
                </a:moveTo>
                <a:lnTo>
                  <a:pt x="10280" y="10642"/>
                </a:lnTo>
                <a:lnTo>
                  <a:pt x="7874" y="10642"/>
                </a:lnTo>
                <a:lnTo>
                  <a:pt x="7874" y="9810"/>
                </a:lnTo>
                <a:close/>
                <a:moveTo>
                  <a:pt x="5099" y="9771"/>
                </a:moveTo>
                <a:lnTo>
                  <a:pt x="5099" y="10660"/>
                </a:lnTo>
                <a:lnTo>
                  <a:pt x="4216" y="10660"/>
                </a:lnTo>
                <a:lnTo>
                  <a:pt x="4216" y="9771"/>
                </a:lnTo>
                <a:close/>
                <a:moveTo>
                  <a:pt x="6928" y="9776"/>
                </a:moveTo>
                <a:lnTo>
                  <a:pt x="6928" y="10660"/>
                </a:lnTo>
                <a:lnTo>
                  <a:pt x="6045" y="10660"/>
                </a:lnTo>
                <a:lnTo>
                  <a:pt x="6045" y="9776"/>
                </a:lnTo>
                <a:close/>
                <a:moveTo>
                  <a:pt x="7242" y="1915"/>
                </a:moveTo>
                <a:cubicBezTo>
                  <a:pt x="7108" y="1915"/>
                  <a:pt x="6974" y="1932"/>
                  <a:pt x="6839" y="1967"/>
                </a:cubicBezTo>
                <a:cubicBezTo>
                  <a:pt x="6500" y="2055"/>
                  <a:pt x="6216" y="2237"/>
                  <a:pt x="5995" y="2516"/>
                </a:cubicBezTo>
                <a:cubicBezTo>
                  <a:pt x="5797" y="2765"/>
                  <a:pt x="5680" y="3045"/>
                  <a:pt x="5653" y="3358"/>
                </a:cubicBezTo>
                <a:cubicBezTo>
                  <a:pt x="5634" y="3610"/>
                  <a:pt x="5659" y="3859"/>
                  <a:pt x="5759" y="4101"/>
                </a:cubicBezTo>
                <a:cubicBezTo>
                  <a:pt x="5943" y="4545"/>
                  <a:pt x="6257" y="4850"/>
                  <a:pt x="6708" y="5010"/>
                </a:cubicBezTo>
                <a:cubicBezTo>
                  <a:pt x="6780" y="5036"/>
                  <a:pt x="6807" y="5063"/>
                  <a:pt x="6807" y="5142"/>
                </a:cubicBezTo>
                <a:cubicBezTo>
                  <a:pt x="6802" y="6194"/>
                  <a:pt x="6804" y="7246"/>
                  <a:pt x="6804" y="8299"/>
                </a:cubicBezTo>
                <a:lnTo>
                  <a:pt x="6804" y="8401"/>
                </a:lnTo>
                <a:lnTo>
                  <a:pt x="1" y="8401"/>
                </a:lnTo>
                <a:lnTo>
                  <a:pt x="1" y="11984"/>
                </a:lnTo>
                <a:lnTo>
                  <a:pt x="14474" y="11984"/>
                </a:lnTo>
                <a:cubicBezTo>
                  <a:pt x="14479" y="10788"/>
                  <a:pt x="14479" y="9593"/>
                  <a:pt x="14479" y="8395"/>
                </a:cubicBezTo>
                <a:lnTo>
                  <a:pt x="7689" y="8395"/>
                </a:lnTo>
                <a:cubicBezTo>
                  <a:pt x="7687" y="8369"/>
                  <a:pt x="7686" y="8354"/>
                  <a:pt x="7686" y="8338"/>
                </a:cubicBezTo>
                <a:cubicBezTo>
                  <a:pt x="7686" y="7265"/>
                  <a:pt x="7686" y="6193"/>
                  <a:pt x="7683" y="5118"/>
                </a:cubicBezTo>
                <a:cubicBezTo>
                  <a:pt x="7683" y="5048"/>
                  <a:pt x="7717" y="5030"/>
                  <a:pt x="7768" y="5014"/>
                </a:cubicBezTo>
                <a:cubicBezTo>
                  <a:pt x="8076" y="4916"/>
                  <a:pt x="8326" y="4731"/>
                  <a:pt x="8515" y="4476"/>
                </a:cubicBezTo>
                <a:cubicBezTo>
                  <a:pt x="8770" y="4132"/>
                  <a:pt x="8877" y="3744"/>
                  <a:pt x="8823" y="3310"/>
                </a:cubicBezTo>
                <a:cubicBezTo>
                  <a:pt x="8779" y="2957"/>
                  <a:pt x="8633" y="2658"/>
                  <a:pt x="8394" y="2403"/>
                </a:cubicBezTo>
                <a:cubicBezTo>
                  <a:pt x="8236" y="2234"/>
                  <a:pt x="8042" y="2108"/>
                  <a:pt x="7821" y="2025"/>
                </a:cubicBezTo>
                <a:cubicBezTo>
                  <a:pt x="7630" y="1952"/>
                  <a:pt x="7437" y="1915"/>
                  <a:pt x="7242" y="1915"/>
                </a:cubicBezTo>
                <a:close/>
                <a:moveTo>
                  <a:pt x="4" y="12826"/>
                </a:moveTo>
                <a:lnTo>
                  <a:pt x="4" y="14656"/>
                </a:lnTo>
                <a:lnTo>
                  <a:pt x="14479" y="14656"/>
                </a:lnTo>
                <a:lnTo>
                  <a:pt x="14479" y="12826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1"/>
          <p:cNvSpPr/>
          <p:nvPr/>
        </p:nvSpPr>
        <p:spPr>
          <a:xfrm>
            <a:off x="3796125" y="1937343"/>
            <a:ext cx="1551600" cy="155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7" name="Google Shape;377;p41"/>
          <p:cNvCxnSpPr>
            <a:cxnSpLocks/>
          </p:cNvCxnSpPr>
          <p:nvPr/>
        </p:nvCxnSpPr>
        <p:spPr>
          <a:xfrm rot="10800000">
            <a:off x="2784579" y="1660235"/>
            <a:ext cx="618000" cy="10890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78" name="Google Shape;378;p41"/>
          <p:cNvCxnSpPr>
            <a:cxnSpLocks/>
          </p:cNvCxnSpPr>
          <p:nvPr/>
        </p:nvCxnSpPr>
        <p:spPr>
          <a:xfrm flipH="1">
            <a:off x="2784549" y="2749236"/>
            <a:ext cx="618000" cy="10809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80" name="Google Shape;380;p41"/>
          <p:cNvCxnSpPr>
            <a:cxnSpLocks/>
          </p:cNvCxnSpPr>
          <p:nvPr/>
        </p:nvCxnSpPr>
        <p:spPr>
          <a:xfrm rot="10800000" flipH="1">
            <a:off x="5839748" y="1646858"/>
            <a:ext cx="618000" cy="10890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81" name="Google Shape;381;p41"/>
          <p:cNvCxnSpPr>
            <a:cxnSpLocks/>
          </p:cNvCxnSpPr>
          <p:nvPr/>
        </p:nvCxnSpPr>
        <p:spPr>
          <a:xfrm>
            <a:off x="5824068" y="2712907"/>
            <a:ext cx="618000" cy="10809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DD8A710-8DB6-806A-1B6E-7CB5854A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899" y="1977603"/>
            <a:ext cx="2305372" cy="1543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FA669B-5B8C-F3AC-94AB-8C9BC76D4D3E}"/>
              </a:ext>
            </a:extLst>
          </p:cNvPr>
          <p:cNvSpPr txBox="1"/>
          <p:nvPr/>
        </p:nvSpPr>
        <p:spPr>
          <a:xfrm>
            <a:off x="3521323" y="3627562"/>
            <a:ext cx="3776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+ teste unitare (src/test/java)</a:t>
            </a:r>
            <a:endParaRPr lang="en-US" sz="1200" dirty="0">
              <a:solidFill>
                <a:schemeClr val="accent2"/>
              </a:solidFill>
              <a:latin typeface="Mukta Mahee" panose="020B0604020202020204" charset="0"/>
              <a:cs typeface="Mukta Mahee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32C9B0AB-432D-0D49-5E35-7F5C77AC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>
            <a:extLst>
              <a:ext uri="{FF2B5EF4-FFF2-40B4-BE49-F238E27FC236}">
                <a16:creationId xmlns:a16="http://schemas.microsoft.com/office/drawing/2014/main" id="{71AEE92D-D113-02E1-268A-DEFBDCA10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Algoritmi implementati</a:t>
            </a:r>
            <a:endParaRPr lang="it-IT" dirty="0"/>
          </a:p>
        </p:txBody>
      </p:sp>
      <p:sp>
        <p:nvSpPr>
          <p:cNvPr id="198" name="Google Shape;198;p29">
            <a:extLst>
              <a:ext uri="{FF2B5EF4-FFF2-40B4-BE49-F238E27FC236}">
                <a16:creationId xmlns:a16="http://schemas.microsoft.com/office/drawing/2014/main" id="{E5297DBB-7767-91F9-1583-5547DD20F2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50077" y="2022638"/>
            <a:ext cx="4233091" cy="2781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LSB (Least Significant Bit)</a:t>
            </a:r>
            <a:r>
              <a:rPr lang="en-GB" b="1" dirty="0"/>
              <a:t>: </a:t>
            </a:r>
            <a:r>
              <a:rPr lang="en-GB" dirty="0" err="1"/>
              <a:t>modificarea</a:t>
            </a:r>
            <a:r>
              <a:rPr lang="en-GB" dirty="0"/>
              <a:t> a </a:t>
            </a:r>
            <a:r>
              <a:rPr lang="en-GB" dirty="0" err="1"/>
              <a:t>ultimului</a:t>
            </a:r>
            <a:r>
              <a:rPr lang="en-GB" dirty="0"/>
              <a:t> bit al </a:t>
            </a:r>
            <a:r>
              <a:rPr lang="en-GB" dirty="0" err="1"/>
              <a:t>pixellilor</a:t>
            </a:r>
            <a:r>
              <a:rPr lang="en-GB" dirty="0"/>
              <a:t> (din </a:t>
            </a:r>
            <a:r>
              <a:rPr lang="en-GB" dirty="0" err="1"/>
              <a:t>fiecare</a:t>
            </a:r>
            <a:r>
              <a:rPr lang="en-GB" dirty="0"/>
              <a:t> canal – RGB)</a:t>
            </a:r>
            <a:endParaRPr lang="ro-RO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AES-128 (Advanced Encryption Standard): </a:t>
            </a:r>
            <a:r>
              <a:rPr lang="en-GB" dirty="0" err="1"/>
              <a:t>criptare</a:t>
            </a:r>
            <a:r>
              <a:rPr lang="en-GB" dirty="0"/>
              <a:t> </a:t>
            </a:r>
            <a:r>
              <a:rPr lang="en-GB" dirty="0" err="1"/>
              <a:t>simetrica</a:t>
            </a:r>
            <a:r>
              <a:rPr lang="en-GB" dirty="0"/>
              <a:t> </a:t>
            </a:r>
            <a:r>
              <a:rPr lang="en-GB" dirty="0" err="1"/>
              <a:t>folosind</a:t>
            </a:r>
            <a:r>
              <a:rPr lang="en-GB" dirty="0"/>
              <a:t> o </a:t>
            </a:r>
            <a:r>
              <a:rPr lang="en-GB" dirty="0" err="1"/>
              <a:t>cheie</a:t>
            </a:r>
            <a:r>
              <a:rPr lang="en-GB" dirty="0"/>
              <a:t> de 128 b</a:t>
            </a:r>
            <a:r>
              <a:rPr lang="en-US" dirty="0" err="1"/>
              <a:t>i</a:t>
            </a:r>
            <a:r>
              <a:rPr lang="ro-RO" dirty="0"/>
              <a:t>ți (pentru parola)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b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Rezultat</a:t>
            </a:r>
            <a:r>
              <a:rPr lang="en-US" b="1" dirty="0"/>
              <a:t>: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securizat</a:t>
            </a:r>
            <a:r>
              <a:rPr lang="en-US" dirty="0"/>
              <a:t> </a:t>
            </a:r>
            <a:r>
              <a:rPr lang="ro-RO" dirty="0"/>
              <a:t>și ascuns vizual</a:t>
            </a:r>
            <a:endParaRPr lang="ro-RO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b="1" dirty="0"/>
          </a:p>
        </p:txBody>
      </p:sp>
      <p:pic>
        <p:nvPicPr>
          <p:cNvPr id="199" name="Google Shape;199;p29">
            <a:extLst>
              <a:ext uri="{FF2B5EF4-FFF2-40B4-BE49-F238E27FC236}">
                <a16:creationId xmlns:a16="http://schemas.microsoft.com/office/drawing/2014/main" id="{4B469A50-B8EF-1D24-E02E-EA08CB2B9BEF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-57" r="50076"/>
          <a:stretch>
            <a:fillRect/>
          </a:stretch>
        </p:blipFill>
        <p:spPr>
          <a:xfrm>
            <a:off x="1419306" y="1400682"/>
            <a:ext cx="2506518" cy="3402965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2991413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Verificare si Validare</a:t>
            </a:r>
            <a:endParaRPr dirty="0"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JPG </a:t>
            </a:r>
            <a:endParaRPr dirty="0"/>
          </a:p>
        </p:txBody>
      </p:sp>
      <p:sp>
        <p:nvSpPr>
          <p:cNvPr id="250" name="Google Shape;250;p34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Dimensiune PNG</a:t>
            </a:r>
            <a:endParaRPr dirty="0"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JPG</a:t>
            </a:r>
            <a:r>
              <a:rPr lang="en-US" dirty="0"/>
              <a:t>:</a:t>
            </a:r>
            <a:r>
              <a:rPr lang="ro-RO" dirty="0"/>
              <a:t> folosește compresie </a:t>
            </a:r>
            <a:r>
              <a:rPr lang="ro-RO" b="1" dirty="0"/>
              <a:t>Lossy</a:t>
            </a:r>
            <a:r>
              <a:rPr lang="ro-RO" dirty="0"/>
              <a:t> (cu pierdere de date)</a:t>
            </a:r>
            <a:r>
              <a:rPr lang="en-US" dirty="0"/>
              <a:t>; </a:t>
            </a:r>
            <a:r>
              <a:rPr lang="en-US" dirty="0" err="1"/>
              <a:t>ascunderea</a:t>
            </a:r>
            <a:r>
              <a:rPr lang="en-US" dirty="0"/>
              <a:t> </a:t>
            </a:r>
            <a:r>
              <a:rPr lang="en-US" dirty="0" err="1"/>
              <a:t>mesajelor</a:t>
            </a:r>
            <a:r>
              <a:rPr lang="en-US" dirty="0"/>
              <a:t> duce la </a:t>
            </a:r>
            <a:r>
              <a:rPr lang="en-US" dirty="0" err="1"/>
              <a:t>coruperea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dirty="0"/>
          </a:p>
        </p:txBody>
      </p:sp>
      <p:sp>
        <p:nvSpPr>
          <p:cNvPr id="252" name="Google Shape;252;p34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727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Schimbarea (după ascunderea mesajului) este mai vizibil procentual la imagini cu dimensiuni reduse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Cauza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are </a:t>
            </a:r>
            <a:r>
              <a:rPr lang="en-US" dirty="0" err="1"/>
              <a:t>entropie</a:t>
            </a:r>
            <a:r>
              <a:rPr lang="en-US" dirty="0"/>
              <a:t> maxima; </a:t>
            </a:r>
            <a:r>
              <a:rPr lang="en-US" dirty="0" err="1"/>
              <a:t>algoritmul</a:t>
            </a:r>
            <a:r>
              <a:rPr lang="en-US" dirty="0"/>
              <a:t> PNG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comprima</a:t>
            </a:r>
            <a:r>
              <a:rPr lang="en-US" dirty="0"/>
              <a:t> </a:t>
            </a:r>
            <a:r>
              <a:rPr lang="en-US" dirty="0" err="1"/>
              <a:t>eficient</a:t>
            </a:r>
            <a:r>
              <a:rPr lang="en-US" dirty="0"/>
              <a:t> </a:t>
            </a:r>
            <a:r>
              <a:rPr lang="en-US" dirty="0" err="1"/>
              <a:t>zonele</a:t>
            </a:r>
            <a:r>
              <a:rPr lang="en-US" dirty="0"/>
              <a:t>  </a:t>
            </a:r>
            <a:r>
              <a:rPr lang="en-US" dirty="0" err="1"/>
              <a:t>modificate</a:t>
            </a:r>
            <a:endParaRPr lang="ro-RO" b="1" dirty="0"/>
          </a:p>
        </p:txBody>
      </p:sp>
      <p:sp>
        <p:nvSpPr>
          <p:cNvPr id="253" name="Google Shape;253;p34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PNG: </a:t>
            </a:r>
            <a:r>
              <a:rPr lang="en-US" dirty="0" err="1"/>
              <a:t>compresie</a:t>
            </a:r>
            <a:r>
              <a:rPr lang="en-US" dirty="0"/>
              <a:t> </a:t>
            </a:r>
            <a:r>
              <a:rPr lang="en-US" b="1" dirty="0"/>
              <a:t>Lossless</a:t>
            </a:r>
            <a:r>
              <a:rPr lang="en-US" dirty="0"/>
              <a:t> (f</a:t>
            </a:r>
            <a:r>
              <a:rPr lang="ro-RO" dirty="0"/>
              <a:t>ără pierderi)</a:t>
            </a:r>
          </a:p>
        </p:txBody>
      </p:sp>
      <p:sp>
        <p:nvSpPr>
          <p:cNvPr id="254" name="Google Shape;254;p34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PNG</a:t>
            </a:r>
            <a:endParaRPr dirty="0"/>
          </a:p>
        </p:txBody>
      </p:sp>
      <p:sp>
        <p:nvSpPr>
          <p:cNvPr id="255" name="Google Shape;255;p34"/>
          <p:cNvSpPr/>
          <p:nvPr/>
        </p:nvSpPr>
        <p:spPr>
          <a:xfrm>
            <a:off x="1796136" y="1271425"/>
            <a:ext cx="458079" cy="458016"/>
          </a:xfrm>
          <a:custGeom>
            <a:avLst/>
            <a:gdLst/>
            <a:ahLst/>
            <a:cxnLst/>
            <a:rect l="l" t="t" r="r" b="b"/>
            <a:pathLst>
              <a:path w="14655" h="14653" extrusionOk="0">
                <a:moveTo>
                  <a:pt x="7360" y="4855"/>
                </a:moveTo>
                <a:cubicBezTo>
                  <a:pt x="7610" y="4855"/>
                  <a:pt x="7889" y="5133"/>
                  <a:pt x="7876" y="5425"/>
                </a:cubicBezTo>
                <a:cubicBezTo>
                  <a:pt x="7863" y="5703"/>
                  <a:pt x="7630" y="5968"/>
                  <a:pt x="7333" y="5968"/>
                </a:cubicBezTo>
                <a:cubicBezTo>
                  <a:pt x="7330" y="5968"/>
                  <a:pt x="7328" y="5968"/>
                  <a:pt x="7325" y="5968"/>
                </a:cubicBezTo>
                <a:cubicBezTo>
                  <a:pt x="7009" y="5960"/>
                  <a:pt x="6779" y="5758"/>
                  <a:pt x="6761" y="5411"/>
                </a:cubicBezTo>
                <a:cubicBezTo>
                  <a:pt x="6747" y="5129"/>
                  <a:pt x="7000" y="4856"/>
                  <a:pt x="7298" y="4856"/>
                </a:cubicBezTo>
                <a:cubicBezTo>
                  <a:pt x="7307" y="4856"/>
                  <a:pt x="7316" y="4856"/>
                  <a:pt x="7325" y="4857"/>
                </a:cubicBezTo>
                <a:cubicBezTo>
                  <a:pt x="7337" y="4856"/>
                  <a:pt x="7348" y="4855"/>
                  <a:pt x="7360" y="4855"/>
                </a:cubicBezTo>
                <a:close/>
                <a:moveTo>
                  <a:pt x="7350" y="3466"/>
                </a:moveTo>
                <a:cubicBezTo>
                  <a:pt x="7240" y="3466"/>
                  <a:pt x="7127" y="3475"/>
                  <a:pt x="7013" y="3492"/>
                </a:cubicBezTo>
                <a:cubicBezTo>
                  <a:pt x="6534" y="3567"/>
                  <a:pt x="6131" y="3799"/>
                  <a:pt x="5823" y="4184"/>
                </a:cubicBezTo>
                <a:cubicBezTo>
                  <a:pt x="5511" y="4578"/>
                  <a:pt x="5366" y="5020"/>
                  <a:pt x="5394" y="5524"/>
                </a:cubicBezTo>
                <a:cubicBezTo>
                  <a:pt x="5416" y="5831"/>
                  <a:pt x="5502" y="6111"/>
                  <a:pt x="5649" y="6375"/>
                </a:cubicBezTo>
                <a:cubicBezTo>
                  <a:pt x="5806" y="6656"/>
                  <a:pt x="6021" y="6888"/>
                  <a:pt x="6299" y="7049"/>
                </a:cubicBezTo>
                <a:cubicBezTo>
                  <a:pt x="6471" y="7149"/>
                  <a:pt x="6657" y="7228"/>
                  <a:pt x="6842" y="7303"/>
                </a:cubicBezTo>
                <a:cubicBezTo>
                  <a:pt x="6905" y="7328"/>
                  <a:pt x="6919" y="7354"/>
                  <a:pt x="6919" y="7416"/>
                </a:cubicBezTo>
                <a:cubicBezTo>
                  <a:pt x="6918" y="8635"/>
                  <a:pt x="6918" y="9853"/>
                  <a:pt x="6918" y="11072"/>
                </a:cubicBezTo>
                <a:lnTo>
                  <a:pt x="6918" y="11185"/>
                </a:lnTo>
                <a:lnTo>
                  <a:pt x="7678" y="11185"/>
                </a:lnTo>
                <a:cubicBezTo>
                  <a:pt x="7698" y="11185"/>
                  <a:pt x="7714" y="11182"/>
                  <a:pt x="7741" y="11181"/>
                </a:cubicBezTo>
                <a:lnTo>
                  <a:pt x="7741" y="11060"/>
                </a:lnTo>
                <a:lnTo>
                  <a:pt x="7741" y="7540"/>
                </a:lnTo>
                <a:cubicBezTo>
                  <a:pt x="7741" y="7323"/>
                  <a:pt x="7743" y="7325"/>
                  <a:pt x="7948" y="7253"/>
                </a:cubicBezTo>
                <a:cubicBezTo>
                  <a:pt x="8452" y="7076"/>
                  <a:pt x="8833" y="6749"/>
                  <a:pt x="9072" y="6273"/>
                </a:cubicBezTo>
                <a:cubicBezTo>
                  <a:pt x="9273" y="5880"/>
                  <a:pt x="9327" y="5456"/>
                  <a:pt x="9238" y="5024"/>
                </a:cubicBezTo>
                <a:cubicBezTo>
                  <a:pt x="9144" y="4565"/>
                  <a:pt x="8911" y="4189"/>
                  <a:pt x="8542" y="3891"/>
                </a:cubicBezTo>
                <a:cubicBezTo>
                  <a:pt x="8181" y="3604"/>
                  <a:pt x="7781" y="3466"/>
                  <a:pt x="7350" y="3466"/>
                </a:cubicBezTo>
                <a:close/>
                <a:moveTo>
                  <a:pt x="7386" y="2629"/>
                </a:moveTo>
                <a:cubicBezTo>
                  <a:pt x="7812" y="2629"/>
                  <a:pt x="8217" y="2748"/>
                  <a:pt x="8605" y="2941"/>
                </a:cubicBezTo>
                <a:cubicBezTo>
                  <a:pt x="8830" y="3053"/>
                  <a:pt x="9033" y="3202"/>
                  <a:pt x="9219" y="3377"/>
                </a:cubicBezTo>
                <a:cubicBezTo>
                  <a:pt x="9497" y="3635"/>
                  <a:pt x="9714" y="3935"/>
                  <a:pt x="9869" y="4282"/>
                </a:cubicBezTo>
                <a:cubicBezTo>
                  <a:pt x="9979" y="4529"/>
                  <a:pt x="10056" y="4784"/>
                  <a:pt x="10085" y="5053"/>
                </a:cubicBezTo>
                <a:cubicBezTo>
                  <a:pt x="10098" y="5166"/>
                  <a:pt x="10127" y="5282"/>
                  <a:pt x="10119" y="5392"/>
                </a:cubicBezTo>
                <a:cubicBezTo>
                  <a:pt x="10097" y="5635"/>
                  <a:pt x="10070" y="5881"/>
                  <a:pt x="10017" y="6119"/>
                </a:cubicBezTo>
                <a:cubicBezTo>
                  <a:pt x="9943" y="6454"/>
                  <a:pt x="9784" y="6755"/>
                  <a:pt x="9584" y="7033"/>
                </a:cubicBezTo>
                <a:cubicBezTo>
                  <a:pt x="9337" y="7372"/>
                  <a:pt x="9034" y="7643"/>
                  <a:pt x="8663" y="7839"/>
                </a:cubicBezTo>
                <a:cubicBezTo>
                  <a:pt x="8608" y="7868"/>
                  <a:pt x="8583" y="7898"/>
                  <a:pt x="8583" y="7968"/>
                </a:cubicBezTo>
                <a:cubicBezTo>
                  <a:pt x="8587" y="8565"/>
                  <a:pt x="8586" y="9163"/>
                  <a:pt x="8586" y="9772"/>
                </a:cubicBezTo>
                <a:lnTo>
                  <a:pt x="8999" y="9772"/>
                </a:lnTo>
                <a:lnTo>
                  <a:pt x="8999" y="10610"/>
                </a:lnTo>
                <a:lnTo>
                  <a:pt x="8593" y="10610"/>
                </a:lnTo>
                <a:lnTo>
                  <a:pt x="8593" y="11179"/>
                </a:lnTo>
                <a:lnTo>
                  <a:pt x="9000" y="11179"/>
                </a:lnTo>
                <a:lnTo>
                  <a:pt x="9000" y="12014"/>
                </a:lnTo>
                <a:lnTo>
                  <a:pt x="6077" y="12014"/>
                </a:lnTo>
                <a:lnTo>
                  <a:pt x="6077" y="11907"/>
                </a:lnTo>
                <a:cubicBezTo>
                  <a:pt x="6077" y="10594"/>
                  <a:pt x="6077" y="9281"/>
                  <a:pt x="6080" y="7968"/>
                </a:cubicBezTo>
                <a:cubicBezTo>
                  <a:pt x="6080" y="7902"/>
                  <a:pt x="6061" y="7868"/>
                  <a:pt x="6002" y="7838"/>
                </a:cubicBezTo>
                <a:cubicBezTo>
                  <a:pt x="5716" y="7685"/>
                  <a:pt x="5468" y="7486"/>
                  <a:pt x="5253" y="7243"/>
                </a:cubicBezTo>
                <a:cubicBezTo>
                  <a:pt x="4917" y="6866"/>
                  <a:pt x="4709" y="6431"/>
                  <a:pt x="4604" y="5946"/>
                </a:cubicBezTo>
                <a:cubicBezTo>
                  <a:pt x="4542" y="5661"/>
                  <a:pt x="4544" y="5368"/>
                  <a:pt x="4576" y="5075"/>
                </a:cubicBezTo>
                <a:cubicBezTo>
                  <a:pt x="4613" y="4734"/>
                  <a:pt x="4717" y="4417"/>
                  <a:pt x="4873" y="4115"/>
                </a:cubicBezTo>
                <a:cubicBezTo>
                  <a:pt x="5052" y="3778"/>
                  <a:pt x="5294" y="3494"/>
                  <a:pt x="5589" y="3252"/>
                </a:cubicBezTo>
                <a:cubicBezTo>
                  <a:pt x="5867" y="3023"/>
                  <a:pt x="6175" y="2851"/>
                  <a:pt x="6522" y="2755"/>
                </a:cubicBezTo>
                <a:cubicBezTo>
                  <a:pt x="6710" y="2707"/>
                  <a:pt x="6902" y="2672"/>
                  <a:pt x="7092" y="2648"/>
                </a:cubicBezTo>
                <a:cubicBezTo>
                  <a:pt x="7191" y="2636"/>
                  <a:pt x="7289" y="2629"/>
                  <a:pt x="7386" y="2629"/>
                </a:cubicBezTo>
                <a:close/>
                <a:moveTo>
                  <a:pt x="6903" y="0"/>
                </a:moveTo>
                <a:lnTo>
                  <a:pt x="6903" y="799"/>
                </a:lnTo>
                <a:cubicBezTo>
                  <a:pt x="6041" y="862"/>
                  <a:pt x="5225" y="1074"/>
                  <a:pt x="4448" y="1455"/>
                </a:cubicBezTo>
                <a:cubicBezTo>
                  <a:pt x="4315" y="1224"/>
                  <a:pt x="4182" y="994"/>
                  <a:pt x="4044" y="758"/>
                </a:cubicBezTo>
                <a:cubicBezTo>
                  <a:pt x="3787" y="906"/>
                  <a:pt x="3540" y="1048"/>
                  <a:pt x="3282" y="1199"/>
                </a:cubicBezTo>
                <a:cubicBezTo>
                  <a:pt x="3418" y="1433"/>
                  <a:pt x="3550" y="1663"/>
                  <a:pt x="3683" y="1896"/>
                </a:cubicBezTo>
                <a:cubicBezTo>
                  <a:pt x="2968" y="2373"/>
                  <a:pt x="2375" y="2965"/>
                  <a:pt x="1895" y="3679"/>
                </a:cubicBezTo>
                <a:cubicBezTo>
                  <a:pt x="1668" y="3547"/>
                  <a:pt x="1437" y="3415"/>
                  <a:pt x="1199" y="3277"/>
                </a:cubicBezTo>
                <a:cubicBezTo>
                  <a:pt x="1120" y="3415"/>
                  <a:pt x="1041" y="3550"/>
                  <a:pt x="965" y="3683"/>
                </a:cubicBezTo>
                <a:cubicBezTo>
                  <a:pt x="906" y="3784"/>
                  <a:pt x="853" y="3885"/>
                  <a:pt x="789" y="3985"/>
                </a:cubicBezTo>
                <a:cubicBezTo>
                  <a:pt x="758" y="4032"/>
                  <a:pt x="770" y="4051"/>
                  <a:pt x="814" y="4074"/>
                </a:cubicBezTo>
                <a:cubicBezTo>
                  <a:pt x="1015" y="4189"/>
                  <a:pt x="1214" y="4304"/>
                  <a:pt x="1412" y="4419"/>
                </a:cubicBezTo>
                <a:cubicBezTo>
                  <a:pt x="1425" y="4426"/>
                  <a:pt x="1435" y="4438"/>
                  <a:pt x="1450" y="4451"/>
                </a:cubicBezTo>
                <a:cubicBezTo>
                  <a:pt x="1081" y="5217"/>
                  <a:pt x="864" y="6026"/>
                  <a:pt x="802" y="6887"/>
                </a:cubicBezTo>
                <a:lnTo>
                  <a:pt x="1" y="6887"/>
                </a:lnTo>
                <a:lnTo>
                  <a:pt x="1" y="7764"/>
                </a:lnTo>
                <a:lnTo>
                  <a:pt x="792" y="7764"/>
                </a:lnTo>
                <a:cubicBezTo>
                  <a:pt x="818" y="7946"/>
                  <a:pt x="830" y="8122"/>
                  <a:pt x="864" y="8295"/>
                </a:cubicBezTo>
                <a:cubicBezTo>
                  <a:pt x="917" y="8579"/>
                  <a:pt x="975" y="8862"/>
                  <a:pt x="1047" y="9142"/>
                </a:cubicBezTo>
                <a:cubicBezTo>
                  <a:pt x="1136" y="9488"/>
                  <a:pt x="1271" y="9821"/>
                  <a:pt x="1429" y="10142"/>
                </a:cubicBezTo>
                <a:cubicBezTo>
                  <a:pt x="1454" y="10190"/>
                  <a:pt x="1448" y="10213"/>
                  <a:pt x="1399" y="10241"/>
                </a:cubicBezTo>
                <a:cubicBezTo>
                  <a:pt x="1202" y="10351"/>
                  <a:pt x="1010" y="10464"/>
                  <a:pt x="818" y="10580"/>
                </a:cubicBezTo>
                <a:cubicBezTo>
                  <a:pt x="798" y="10593"/>
                  <a:pt x="774" y="10638"/>
                  <a:pt x="782" y="10652"/>
                </a:cubicBezTo>
                <a:cubicBezTo>
                  <a:pt x="917" y="10889"/>
                  <a:pt x="1056" y="11126"/>
                  <a:pt x="1201" y="11373"/>
                </a:cubicBezTo>
                <a:lnTo>
                  <a:pt x="1898" y="10972"/>
                </a:lnTo>
                <a:cubicBezTo>
                  <a:pt x="2375" y="11683"/>
                  <a:pt x="2968" y="12280"/>
                  <a:pt x="3683" y="12757"/>
                </a:cubicBezTo>
                <a:cubicBezTo>
                  <a:pt x="3547" y="12992"/>
                  <a:pt x="3418" y="13219"/>
                  <a:pt x="3283" y="13454"/>
                </a:cubicBezTo>
                <a:cubicBezTo>
                  <a:pt x="3543" y="13603"/>
                  <a:pt x="3789" y="13745"/>
                  <a:pt x="4048" y="13893"/>
                </a:cubicBezTo>
                <a:cubicBezTo>
                  <a:pt x="4182" y="13663"/>
                  <a:pt x="4315" y="13435"/>
                  <a:pt x="4453" y="13197"/>
                </a:cubicBezTo>
                <a:cubicBezTo>
                  <a:pt x="5225" y="13577"/>
                  <a:pt x="6044" y="13786"/>
                  <a:pt x="6903" y="13851"/>
                </a:cubicBezTo>
                <a:lnTo>
                  <a:pt x="6903" y="14652"/>
                </a:lnTo>
                <a:lnTo>
                  <a:pt x="7761" y="14652"/>
                </a:lnTo>
                <a:lnTo>
                  <a:pt x="7761" y="13883"/>
                </a:lnTo>
                <a:cubicBezTo>
                  <a:pt x="8186" y="13804"/>
                  <a:pt x="8606" y="13739"/>
                  <a:pt x="9018" y="13643"/>
                </a:cubicBezTo>
                <a:cubicBezTo>
                  <a:pt x="9430" y="13547"/>
                  <a:pt x="9825" y="13392"/>
                  <a:pt x="10215" y="13196"/>
                </a:cubicBezTo>
                <a:cubicBezTo>
                  <a:pt x="10350" y="13424"/>
                  <a:pt x="10483" y="13656"/>
                  <a:pt x="10623" y="13892"/>
                </a:cubicBezTo>
                <a:cubicBezTo>
                  <a:pt x="10878" y="13745"/>
                  <a:pt x="11124" y="13602"/>
                  <a:pt x="11385" y="13452"/>
                </a:cubicBezTo>
                <a:cubicBezTo>
                  <a:pt x="11251" y="13219"/>
                  <a:pt x="11121" y="12993"/>
                  <a:pt x="10985" y="12759"/>
                </a:cubicBezTo>
                <a:cubicBezTo>
                  <a:pt x="11092" y="12681"/>
                  <a:pt x="11200" y="12601"/>
                  <a:pt x="11306" y="12520"/>
                </a:cubicBezTo>
                <a:cubicBezTo>
                  <a:pt x="11627" y="12275"/>
                  <a:pt x="11933" y="12017"/>
                  <a:pt x="12189" y="11707"/>
                </a:cubicBezTo>
                <a:cubicBezTo>
                  <a:pt x="12375" y="11480"/>
                  <a:pt x="12557" y="11248"/>
                  <a:pt x="12739" y="11018"/>
                </a:cubicBezTo>
                <a:cubicBezTo>
                  <a:pt x="12755" y="10996"/>
                  <a:pt x="12768" y="10985"/>
                  <a:pt x="12783" y="10985"/>
                </a:cubicBezTo>
                <a:cubicBezTo>
                  <a:pt x="12795" y="10985"/>
                  <a:pt x="12808" y="10992"/>
                  <a:pt x="12827" y="11003"/>
                </a:cubicBezTo>
                <a:cubicBezTo>
                  <a:pt x="13025" y="11122"/>
                  <a:pt x="13224" y="11233"/>
                  <a:pt x="13422" y="11349"/>
                </a:cubicBezTo>
                <a:cubicBezTo>
                  <a:pt x="13435" y="11356"/>
                  <a:pt x="13447" y="11362"/>
                  <a:pt x="13464" y="11370"/>
                </a:cubicBezTo>
                <a:cubicBezTo>
                  <a:pt x="13564" y="11197"/>
                  <a:pt x="13662" y="11030"/>
                  <a:pt x="13760" y="10864"/>
                </a:cubicBezTo>
                <a:cubicBezTo>
                  <a:pt x="13794" y="10807"/>
                  <a:pt x="13825" y="10748"/>
                  <a:pt x="13862" y="10695"/>
                </a:cubicBezTo>
                <a:cubicBezTo>
                  <a:pt x="13897" y="10641"/>
                  <a:pt x="13907" y="10605"/>
                  <a:pt x="13835" y="10567"/>
                </a:cubicBezTo>
                <a:cubicBezTo>
                  <a:pt x="13649" y="10465"/>
                  <a:pt x="13467" y="10355"/>
                  <a:pt x="13284" y="10250"/>
                </a:cubicBezTo>
                <a:cubicBezTo>
                  <a:pt x="13261" y="10237"/>
                  <a:pt x="13239" y="10222"/>
                  <a:pt x="13211" y="10206"/>
                </a:cubicBezTo>
                <a:cubicBezTo>
                  <a:pt x="13394" y="9819"/>
                  <a:pt x="13548" y="9428"/>
                  <a:pt x="13655" y="9017"/>
                </a:cubicBezTo>
                <a:cubicBezTo>
                  <a:pt x="13759" y="8609"/>
                  <a:pt x="13835" y="8194"/>
                  <a:pt x="13862" y="7767"/>
                </a:cubicBezTo>
                <a:lnTo>
                  <a:pt x="14654" y="7767"/>
                </a:lnTo>
                <a:lnTo>
                  <a:pt x="14654" y="6888"/>
                </a:lnTo>
                <a:lnTo>
                  <a:pt x="13863" y="6888"/>
                </a:lnTo>
                <a:cubicBezTo>
                  <a:pt x="13809" y="6025"/>
                  <a:pt x="13583" y="5217"/>
                  <a:pt x="13211" y="4446"/>
                </a:cubicBezTo>
                <a:cubicBezTo>
                  <a:pt x="13356" y="4361"/>
                  <a:pt x="13494" y="4281"/>
                  <a:pt x="13633" y="4200"/>
                </a:cubicBezTo>
                <a:cubicBezTo>
                  <a:pt x="13708" y="4156"/>
                  <a:pt x="13784" y="4118"/>
                  <a:pt x="13856" y="4068"/>
                </a:cubicBezTo>
                <a:cubicBezTo>
                  <a:pt x="13872" y="4058"/>
                  <a:pt x="13885" y="4010"/>
                  <a:pt x="13875" y="3992"/>
                </a:cubicBezTo>
                <a:cubicBezTo>
                  <a:pt x="13743" y="3756"/>
                  <a:pt x="13605" y="3522"/>
                  <a:pt x="13464" y="3280"/>
                </a:cubicBezTo>
                <a:cubicBezTo>
                  <a:pt x="13227" y="3415"/>
                  <a:pt x="12997" y="3548"/>
                  <a:pt x="12765" y="3683"/>
                </a:cubicBezTo>
                <a:cubicBezTo>
                  <a:pt x="12289" y="2969"/>
                  <a:pt x="11695" y="2376"/>
                  <a:pt x="10982" y="1895"/>
                </a:cubicBezTo>
                <a:cubicBezTo>
                  <a:pt x="11093" y="1699"/>
                  <a:pt x="11202" y="1508"/>
                  <a:pt x="11314" y="1319"/>
                </a:cubicBezTo>
                <a:cubicBezTo>
                  <a:pt x="11386" y="1200"/>
                  <a:pt x="11388" y="1200"/>
                  <a:pt x="11269" y="1133"/>
                </a:cubicBezTo>
                <a:cubicBezTo>
                  <a:pt x="11055" y="1011"/>
                  <a:pt x="10841" y="887"/>
                  <a:pt x="10618" y="759"/>
                </a:cubicBezTo>
                <a:cubicBezTo>
                  <a:pt x="10482" y="994"/>
                  <a:pt x="10347" y="1222"/>
                  <a:pt x="10212" y="1455"/>
                </a:cubicBezTo>
                <a:cubicBezTo>
                  <a:pt x="9443" y="1076"/>
                  <a:pt x="8630" y="871"/>
                  <a:pt x="7778" y="800"/>
                </a:cubicBezTo>
                <a:lnTo>
                  <a:pt x="7778" y="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6909362" y="1271753"/>
            <a:ext cx="418913" cy="457360"/>
          </a:xfrm>
          <a:custGeom>
            <a:avLst/>
            <a:gdLst/>
            <a:ahLst/>
            <a:cxnLst/>
            <a:rect l="l" t="t" r="r" b="b"/>
            <a:pathLst>
              <a:path w="13402" h="14632" extrusionOk="0">
                <a:moveTo>
                  <a:pt x="10991" y="7202"/>
                </a:moveTo>
                <a:cubicBezTo>
                  <a:pt x="10992" y="7202"/>
                  <a:pt x="10994" y="7202"/>
                  <a:pt x="10995" y="7202"/>
                </a:cubicBezTo>
                <a:cubicBezTo>
                  <a:pt x="11300" y="7205"/>
                  <a:pt x="11505" y="7444"/>
                  <a:pt x="11505" y="7707"/>
                </a:cubicBezTo>
                <a:cubicBezTo>
                  <a:pt x="11505" y="7967"/>
                  <a:pt x="11287" y="8203"/>
                  <a:pt x="11002" y="8209"/>
                </a:cubicBezTo>
                <a:cubicBezTo>
                  <a:pt x="10999" y="8209"/>
                  <a:pt x="10995" y="8209"/>
                  <a:pt x="10992" y="8209"/>
                </a:cubicBezTo>
                <a:cubicBezTo>
                  <a:pt x="10735" y="8209"/>
                  <a:pt x="10481" y="7940"/>
                  <a:pt x="10503" y="7712"/>
                </a:cubicBezTo>
                <a:cubicBezTo>
                  <a:pt x="10485" y="7431"/>
                  <a:pt x="10753" y="7202"/>
                  <a:pt x="10991" y="7202"/>
                </a:cubicBezTo>
                <a:close/>
                <a:moveTo>
                  <a:pt x="6029" y="2745"/>
                </a:moveTo>
                <a:cubicBezTo>
                  <a:pt x="6015" y="2745"/>
                  <a:pt x="6001" y="2746"/>
                  <a:pt x="5987" y="2750"/>
                </a:cubicBezTo>
                <a:cubicBezTo>
                  <a:pt x="5586" y="2851"/>
                  <a:pt x="5190" y="2971"/>
                  <a:pt x="4793" y="3082"/>
                </a:cubicBezTo>
                <a:cubicBezTo>
                  <a:pt x="4444" y="3182"/>
                  <a:pt x="4095" y="3279"/>
                  <a:pt x="3745" y="3378"/>
                </a:cubicBezTo>
                <a:cubicBezTo>
                  <a:pt x="3376" y="3482"/>
                  <a:pt x="3008" y="3588"/>
                  <a:pt x="2637" y="3695"/>
                </a:cubicBezTo>
                <a:lnTo>
                  <a:pt x="2637" y="3808"/>
                </a:lnTo>
                <a:lnTo>
                  <a:pt x="2637" y="8657"/>
                </a:lnTo>
                <a:cubicBezTo>
                  <a:pt x="2637" y="9040"/>
                  <a:pt x="2634" y="9425"/>
                  <a:pt x="2639" y="9809"/>
                </a:cubicBezTo>
                <a:cubicBezTo>
                  <a:pt x="2639" y="9841"/>
                  <a:pt x="2656" y="9890"/>
                  <a:pt x="2680" y="9903"/>
                </a:cubicBezTo>
                <a:cubicBezTo>
                  <a:pt x="2971" y="10062"/>
                  <a:pt x="3266" y="10216"/>
                  <a:pt x="3559" y="10370"/>
                </a:cubicBezTo>
                <a:cubicBezTo>
                  <a:pt x="3814" y="10504"/>
                  <a:pt x="4069" y="10636"/>
                  <a:pt x="4322" y="10772"/>
                </a:cubicBezTo>
                <a:cubicBezTo>
                  <a:pt x="4866" y="11061"/>
                  <a:pt x="5408" y="11354"/>
                  <a:pt x="5952" y="11639"/>
                </a:cubicBezTo>
                <a:cubicBezTo>
                  <a:pt x="5969" y="11649"/>
                  <a:pt x="5992" y="11653"/>
                  <a:pt x="6015" y="11653"/>
                </a:cubicBezTo>
                <a:cubicBezTo>
                  <a:pt x="6043" y="11653"/>
                  <a:pt x="6071" y="11647"/>
                  <a:pt x="6091" y="11638"/>
                </a:cubicBezTo>
                <a:cubicBezTo>
                  <a:pt x="6275" y="11549"/>
                  <a:pt x="6452" y="11449"/>
                  <a:pt x="6632" y="11354"/>
                </a:cubicBezTo>
                <a:cubicBezTo>
                  <a:pt x="7095" y="11110"/>
                  <a:pt x="7557" y="10867"/>
                  <a:pt x="8020" y="10622"/>
                </a:cubicBezTo>
                <a:cubicBezTo>
                  <a:pt x="8303" y="10473"/>
                  <a:pt x="8584" y="10325"/>
                  <a:pt x="8850" y="10186"/>
                </a:cubicBezTo>
                <a:cubicBezTo>
                  <a:pt x="8677" y="9969"/>
                  <a:pt x="8496" y="9753"/>
                  <a:pt x="8326" y="9531"/>
                </a:cubicBezTo>
                <a:cubicBezTo>
                  <a:pt x="8282" y="9476"/>
                  <a:pt x="8244" y="9450"/>
                  <a:pt x="8172" y="9450"/>
                </a:cubicBezTo>
                <a:cubicBezTo>
                  <a:pt x="7116" y="9453"/>
                  <a:pt x="6056" y="9453"/>
                  <a:pt x="5000" y="9453"/>
                </a:cubicBezTo>
                <a:lnTo>
                  <a:pt x="4893" y="9453"/>
                </a:lnTo>
                <a:lnTo>
                  <a:pt x="4893" y="8575"/>
                </a:lnTo>
                <a:lnTo>
                  <a:pt x="8693" y="8575"/>
                </a:lnTo>
                <a:cubicBezTo>
                  <a:pt x="8695" y="8575"/>
                  <a:pt x="8697" y="8575"/>
                  <a:pt x="8699" y="8575"/>
                </a:cubicBezTo>
                <a:cubicBezTo>
                  <a:pt x="8747" y="8575"/>
                  <a:pt x="8780" y="8576"/>
                  <a:pt x="8808" y="8641"/>
                </a:cubicBezTo>
                <a:cubicBezTo>
                  <a:pt x="9025" y="9152"/>
                  <a:pt x="9380" y="9550"/>
                  <a:pt x="9868" y="9813"/>
                </a:cubicBezTo>
                <a:cubicBezTo>
                  <a:pt x="10222" y="10004"/>
                  <a:pt x="10594" y="10098"/>
                  <a:pt x="10980" y="10098"/>
                </a:cubicBezTo>
                <a:cubicBezTo>
                  <a:pt x="11128" y="10098"/>
                  <a:pt x="11278" y="10084"/>
                  <a:pt x="11430" y="10057"/>
                </a:cubicBezTo>
                <a:cubicBezTo>
                  <a:pt x="12002" y="9954"/>
                  <a:pt x="12466" y="9674"/>
                  <a:pt x="12840" y="9230"/>
                </a:cubicBezTo>
                <a:cubicBezTo>
                  <a:pt x="13154" y="8856"/>
                  <a:pt x="13324" y="8427"/>
                  <a:pt x="13369" y="7951"/>
                </a:cubicBezTo>
                <a:cubicBezTo>
                  <a:pt x="13401" y="7628"/>
                  <a:pt x="13375" y="7306"/>
                  <a:pt x="13270" y="6994"/>
                </a:cubicBezTo>
                <a:cubicBezTo>
                  <a:pt x="13132" y="6588"/>
                  <a:pt x="12915" y="6232"/>
                  <a:pt x="12588" y="5946"/>
                </a:cubicBezTo>
                <a:cubicBezTo>
                  <a:pt x="12370" y="5754"/>
                  <a:pt x="12134" y="5599"/>
                  <a:pt x="11858" y="5499"/>
                </a:cubicBezTo>
                <a:cubicBezTo>
                  <a:pt x="11583" y="5399"/>
                  <a:pt x="11304" y="5341"/>
                  <a:pt x="11014" y="5341"/>
                </a:cubicBezTo>
                <a:cubicBezTo>
                  <a:pt x="10947" y="5341"/>
                  <a:pt x="10879" y="5345"/>
                  <a:pt x="10810" y="5351"/>
                </a:cubicBezTo>
                <a:cubicBezTo>
                  <a:pt x="10530" y="5376"/>
                  <a:pt x="10262" y="5439"/>
                  <a:pt x="10009" y="5556"/>
                </a:cubicBezTo>
                <a:cubicBezTo>
                  <a:pt x="9672" y="5710"/>
                  <a:pt x="9386" y="5928"/>
                  <a:pt x="9154" y="6218"/>
                </a:cubicBezTo>
                <a:cubicBezTo>
                  <a:pt x="9015" y="6393"/>
                  <a:pt x="8891" y="6575"/>
                  <a:pt x="8817" y="6787"/>
                </a:cubicBezTo>
                <a:cubicBezTo>
                  <a:pt x="8797" y="6849"/>
                  <a:pt x="8760" y="6875"/>
                  <a:pt x="8685" y="6875"/>
                </a:cubicBezTo>
                <a:cubicBezTo>
                  <a:pt x="7463" y="6866"/>
                  <a:pt x="6244" y="6859"/>
                  <a:pt x="5022" y="6856"/>
                </a:cubicBezTo>
                <a:cubicBezTo>
                  <a:pt x="4916" y="6856"/>
                  <a:pt x="4844" y="6834"/>
                  <a:pt x="4780" y="6743"/>
                </a:cubicBezTo>
                <a:cubicBezTo>
                  <a:pt x="4522" y="6377"/>
                  <a:pt x="4407" y="5975"/>
                  <a:pt x="4488" y="5535"/>
                </a:cubicBezTo>
                <a:cubicBezTo>
                  <a:pt x="4557" y="5169"/>
                  <a:pt x="4733" y="4858"/>
                  <a:pt x="5026" y="4618"/>
                </a:cubicBezTo>
                <a:cubicBezTo>
                  <a:pt x="5321" y="4376"/>
                  <a:pt x="5646" y="4255"/>
                  <a:pt x="6008" y="4255"/>
                </a:cubicBezTo>
                <a:cubicBezTo>
                  <a:pt x="6087" y="4255"/>
                  <a:pt x="6167" y="4261"/>
                  <a:pt x="6250" y="4272"/>
                </a:cubicBezTo>
                <a:cubicBezTo>
                  <a:pt x="6582" y="4318"/>
                  <a:pt x="6868" y="4463"/>
                  <a:pt x="7103" y="4693"/>
                </a:cubicBezTo>
                <a:cubicBezTo>
                  <a:pt x="7416" y="5001"/>
                  <a:pt x="7576" y="5382"/>
                  <a:pt x="7573" y="5823"/>
                </a:cubicBezTo>
                <a:cubicBezTo>
                  <a:pt x="7573" y="5902"/>
                  <a:pt x="7564" y="5981"/>
                  <a:pt x="7558" y="6067"/>
                </a:cubicBezTo>
                <a:cubicBezTo>
                  <a:pt x="7650" y="6067"/>
                  <a:pt x="7739" y="6063"/>
                  <a:pt x="7825" y="6063"/>
                </a:cubicBezTo>
                <a:cubicBezTo>
                  <a:pt x="7873" y="6063"/>
                  <a:pt x="7921" y="6064"/>
                  <a:pt x="7969" y="6069"/>
                </a:cubicBezTo>
                <a:cubicBezTo>
                  <a:pt x="8002" y="6072"/>
                  <a:pt x="8035" y="6075"/>
                  <a:pt x="8067" y="6075"/>
                </a:cubicBezTo>
                <a:cubicBezTo>
                  <a:pt x="8220" y="6075"/>
                  <a:pt x="8344" y="6025"/>
                  <a:pt x="8407" y="5848"/>
                </a:cubicBezTo>
                <a:cubicBezTo>
                  <a:pt x="8414" y="5823"/>
                  <a:pt x="8445" y="5808"/>
                  <a:pt x="8463" y="5786"/>
                </a:cubicBezTo>
                <a:cubicBezTo>
                  <a:pt x="8706" y="5464"/>
                  <a:pt x="9008" y="5204"/>
                  <a:pt x="9351" y="4990"/>
                </a:cubicBezTo>
                <a:cubicBezTo>
                  <a:pt x="9376" y="4976"/>
                  <a:pt x="9401" y="4932"/>
                  <a:pt x="9401" y="4899"/>
                </a:cubicBezTo>
                <a:cubicBezTo>
                  <a:pt x="9403" y="4646"/>
                  <a:pt x="9402" y="4392"/>
                  <a:pt x="9402" y="4140"/>
                </a:cubicBezTo>
                <a:lnTo>
                  <a:pt x="9402" y="3695"/>
                </a:lnTo>
                <a:cubicBezTo>
                  <a:pt x="9335" y="3674"/>
                  <a:pt x="9276" y="3657"/>
                  <a:pt x="9214" y="3639"/>
                </a:cubicBezTo>
                <a:cubicBezTo>
                  <a:pt x="8782" y="3515"/>
                  <a:pt x="8353" y="3390"/>
                  <a:pt x="7920" y="3268"/>
                </a:cubicBezTo>
                <a:cubicBezTo>
                  <a:pt x="7368" y="3112"/>
                  <a:pt x="6815" y="2958"/>
                  <a:pt x="6261" y="2804"/>
                </a:cubicBezTo>
                <a:cubicBezTo>
                  <a:pt x="6185" y="2783"/>
                  <a:pt x="6102" y="2745"/>
                  <a:pt x="6029" y="2745"/>
                </a:cubicBezTo>
                <a:close/>
                <a:moveTo>
                  <a:pt x="5990" y="1"/>
                </a:moveTo>
                <a:cubicBezTo>
                  <a:pt x="5900" y="1"/>
                  <a:pt x="5808" y="14"/>
                  <a:pt x="5712" y="47"/>
                </a:cubicBezTo>
                <a:cubicBezTo>
                  <a:pt x="5301" y="189"/>
                  <a:pt x="4878" y="295"/>
                  <a:pt x="4462" y="412"/>
                </a:cubicBezTo>
                <a:cubicBezTo>
                  <a:pt x="3953" y="556"/>
                  <a:pt x="3446" y="695"/>
                  <a:pt x="2939" y="837"/>
                </a:cubicBezTo>
                <a:cubicBezTo>
                  <a:pt x="2561" y="944"/>
                  <a:pt x="2184" y="1055"/>
                  <a:pt x="1806" y="1164"/>
                </a:cubicBezTo>
                <a:cubicBezTo>
                  <a:pt x="1238" y="1325"/>
                  <a:pt x="669" y="1486"/>
                  <a:pt x="97" y="1643"/>
                </a:cubicBezTo>
                <a:cubicBezTo>
                  <a:pt x="17" y="1665"/>
                  <a:pt x="1" y="1700"/>
                  <a:pt x="1" y="1779"/>
                </a:cubicBezTo>
                <a:cubicBezTo>
                  <a:pt x="4" y="4486"/>
                  <a:pt x="4" y="7196"/>
                  <a:pt x="2" y="9903"/>
                </a:cubicBezTo>
                <a:cubicBezTo>
                  <a:pt x="2" y="10222"/>
                  <a:pt x="52" y="10530"/>
                  <a:pt x="166" y="10833"/>
                </a:cubicBezTo>
                <a:cubicBezTo>
                  <a:pt x="355" y="11329"/>
                  <a:pt x="657" y="11739"/>
                  <a:pt x="1107" y="12018"/>
                </a:cubicBezTo>
                <a:cubicBezTo>
                  <a:pt x="1500" y="12262"/>
                  <a:pt x="1920" y="12470"/>
                  <a:pt x="2331" y="12692"/>
                </a:cubicBezTo>
                <a:cubicBezTo>
                  <a:pt x="2728" y="12906"/>
                  <a:pt x="3127" y="13115"/>
                  <a:pt x="3527" y="13325"/>
                </a:cubicBezTo>
                <a:cubicBezTo>
                  <a:pt x="3931" y="13540"/>
                  <a:pt x="4334" y="13754"/>
                  <a:pt x="4739" y="13968"/>
                </a:cubicBezTo>
                <a:cubicBezTo>
                  <a:pt x="5140" y="14181"/>
                  <a:pt x="5542" y="14393"/>
                  <a:pt x="5943" y="14607"/>
                </a:cubicBezTo>
                <a:cubicBezTo>
                  <a:pt x="5972" y="14623"/>
                  <a:pt x="5998" y="14632"/>
                  <a:pt x="6024" y="14632"/>
                </a:cubicBezTo>
                <a:cubicBezTo>
                  <a:pt x="6046" y="14632"/>
                  <a:pt x="6069" y="14626"/>
                  <a:pt x="6093" y="14611"/>
                </a:cubicBezTo>
                <a:cubicBezTo>
                  <a:pt x="6220" y="14540"/>
                  <a:pt x="6348" y="14468"/>
                  <a:pt x="6478" y="14400"/>
                </a:cubicBezTo>
                <a:cubicBezTo>
                  <a:pt x="6999" y="14123"/>
                  <a:pt x="7520" y="13849"/>
                  <a:pt x="8041" y="13574"/>
                </a:cubicBezTo>
                <a:cubicBezTo>
                  <a:pt x="8326" y="13423"/>
                  <a:pt x="8611" y="13271"/>
                  <a:pt x="8896" y="13118"/>
                </a:cubicBezTo>
                <a:cubicBezTo>
                  <a:pt x="9417" y="12844"/>
                  <a:pt x="9934" y="12563"/>
                  <a:pt x="10459" y="12294"/>
                </a:cubicBezTo>
                <a:cubicBezTo>
                  <a:pt x="10841" y="12097"/>
                  <a:pt x="11203" y="11877"/>
                  <a:pt x="11473" y="11534"/>
                </a:cubicBezTo>
                <a:cubicBezTo>
                  <a:pt x="11633" y="11335"/>
                  <a:pt x="11769" y="11122"/>
                  <a:pt x="11863" y="10866"/>
                </a:cubicBezTo>
                <a:lnTo>
                  <a:pt x="11863" y="10866"/>
                </a:lnTo>
                <a:cubicBezTo>
                  <a:pt x="11570" y="10942"/>
                  <a:pt x="11285" y="10979"/>
                  <a:pt x="10998" y="10979"/>
                </a:cubicBezTo>
                <a:cubicBezTo>
                  <a:pt x="10888" y="10979"/>
                  <a:pt x="10777" y="10973"/>
                  <a:pt x="10665" y="10962"/>
                </a:cubicBezTo>
                <a:cubicBezTo>
                  <a:pt x="10349" y="10932"/>
                  <a:pt x="10047" y="10847"/>
                  <a:pt x="9752" y="10728"/>
                </a:cubicBezTo>
                <a:cubicBezTo>
                  <a:pt x="9729" y="10718"/>
                  <a:pt x="9709" y="10713"/>
                  <a:pt x="9689" y="10713"/>
                </a:cubicBezTo>
                <a:cubicBezTo>
                  <a:pt x="9667" y="10713"/>
                  <a:pt x="9645" y="10720"/>
                  <a:pt x="9620" y="10734"/>
                </a:cubicBezTo>
                <a:cubicBezTo>
                  <a:pt x="9295" y="10907"/>
                  <a:pt x="8971" y="11078"/>
                  <a:pt x="8646" y="11250"/>
                </a:cubicBezTo>
                <a:cubicBezTo>
                  <a:pt x="8318" y="11423"/>
                  <a:pt x="7988" y="11594"/>
                  <a:pt x="7660" y="11767"/>
                </a:cubicBezTo>
                <a:cubicBezTo>
                  <a:pt x="7133" y="12041"/>
                  <a:pt x="6610" y="12316"/>
                  <a:pt x="6086" y="12592"/>
                </a:cubicBezTo>
                <a:cubicBezTo>
                  <a:pt x="6061" y="12605"/>
                  <a:pt x="6041" y="12612"/>
                  <a:pt x="6020" y="12612"/>
                </a:cubicBezTo>
                <a:cubicBezTo>
                  <a:pt x="6000" y="12612"/>
                  <a:pt x="5980" y="12605"/>
                  <a:pt x="5957" y="12592"/>
                </a:cubicBezTo>
                <a:cubicBezTo>
                  <a:pt x="5470" y="12334"/>
                  <a:pt x="4983" y="12078"/>
                  <a:pt x="4498" y="11820"/>
                </a:cubicBezTo>
                <a:cubicBezTo>
                  <a:pt x="4092" y="11606"/>
                  <a:pt x="3689" y="11390"/>
                  <a:pt x="3285" y="11176"/>
                </a:cubicBezTo>
                <a:cubicBezTo>
                  <a:pt x="2820" y="10932"/>
                  <a:pt x="2354" y="10682"/>
                  <a:pt x="1887" y="10442"/>
                </a:cubicBezTo>
                <a:cubicBezTo>
                  <a:pt x="1814" y="10404"/>
                  <a:pt x="1794" y="10361"/>
                  <a:pt x="1794" y="10282"/>
                </a:cubicBezTo>
                <a:cubicBezTo>
                  <a:pt x="1797" y="7921"/>
                  <a:pt x="1797" y="5562"/>
                  <a:pt x="1794" y="3201"/>
                </a:cubicBezTo>
                <a:cubicBezTo>
                  <a:pt x="1794" y="3092"/>
                  <a:pt x="1822" y="3057"/>
                  <a:pt x="1929" y="3028"/>
                </a:cubicBezTo>
                <a:cubicBezTo>
                  <a:pt x="2621" y="2842"/>
                  <a:pt x="3310" y="2641"/>
                  <a:pt x="3999" y="2446"/>
                </a:cubicBezTo>
                <a:cubicBezTo>
                  <a:pt x="4627" y="2266"/>
                  <a:pt x="5256" y="2083"/>
                  <a:pt x="5886" y="1904"/>
                </a:cubicBezTo>
                <a:cubicBezTo>
                  <a:pt x="5930" y="1892"/>
                  <a:pt x="5978" y="1877"/>
                  <a:pt x="6022" y="1877"/>
                </a:cubicBezTo>
                <a:cubicBezTo>
                  <a:pt x="6031" y="1877"/>
                  <a:pt x="6039" y="1878"/>
                  <a:pt x="6047" y="1879"/>
                </a:cubicBezTo>
                <a:cubicBezTo>
                  <a:pt x="6129" y="1891"/>
                  <a:pt x="6209" y="1920"/>
                  <a:pt x="6289" y="1942"/>
                </a:cubicBezTo>
                <a:cubicBezTo>
                  <a:pt x="6892" y="2112"/>
                  <a:pt x="7492" y="2281"/>
                  <a:pt x="8093" y="2451"/>
                </a:cubicBezTo>
                <a:cubicBezTo>
                  <a:pt x="8785" y="2645"/>
                  <a:pt x="9472" y="2842"/>
                  <a:pt x="10164" y="3037"/>
                </a:cubicBezTo>
                <a:cubicBezTo>
                  <a:pt x="10223" y="3054"/>
                  <a:pt x="10251" y="3079"/>
                  <a:pt x="10251" y="3150"/>
                </a:cubicBezTo>
                <a:cubicBezTo>
                  <a:pt x="10246" y="3607"/>
                  <a:pt x="10248" y="4063"/>
                  <a:pt x="10248" y="4521"/>
                </a:cubicBezTo>
                <a:lnTo>
                  <a:pt x="10248" y="4625"/>
                </a:lnTo>
                <a:cubicBezTo>
                  <a:pt x="10509" y="4583"/>
                  <a:pt x="10760" y="4541"/>
                  <a:pt x="11018" y="4541"/>
                </a:cubicBezTo>
                <a:cubicBezTo>
                  <a:pt x="11061" y="4541"/>
                  <a:pt x="11104" y="4542"/>
                  <a:pt x="11147" y="4545"/>
                </a:cubicBezTo>
                <a:cubicBezTo>
                  <a:pt x="11452" y="4564"/>
                  <a:pt x="11745" y="4622"/>
                  <a:pt x="12040" y="4706"/>
                </a:cubicBezTo>
                <a:lnTo>
                  <a:pt x="12040" y="4602"/>
                </a:lnTo>
                <a:lnTo>
                  <a:pt x="12040" y="2388"/>
                </a:lnTo>
                <a:cubicBezTo>
                  <a:pt x="12040" y="2172"/>
                  <a:pt x="12041" y="1960"/>
                  <a:pt x="12038" y="1746"/>
                </a:cubicBezTo>
                <a:cubicBezTo>
                  <a:pt x="12038" y="1716"/>
                  <a:pt x="12018" y="1667"/>
                  <a:pt x="11997" y="1662"/>
                </a:cubicBezTo>
                <a:cubicBezTo>
                  <a:pt x="11697" y="1571"/>
                  <a:pt x="11397" y="1486"/>
                  <a:pt x="11096" y="1401"/>
                </a:cubicBezTo>
                <a:cubicBezTo>
                  <a:pt x="10513" y="1237"/>
                  <a:pt x="9933" y="1073"/>
                  <a:pt x="9352" y="909"/>
                </a:cubicBezTo>
                <a:cubicBezTo>
                  <a:pt x="8965" y="799"/>
                  <a:pt x="8578" y="688"/>
                  <a:pt x="8193" y="579"/>
                </a:cubicBezTo>
                <a:cubicBezTo>
                  <a:pt x="7599" y="412"/>
                  <a:pt x="7003" y="251"/>
                  <a:pt x="6414" y="76"/>
                </a:cubicBezTo>
                <a:cubicBezTo>
                  <a:pt x="6270" y="34"/>
                  <a:pt x="6133" y="1"/>
                  <a:pt x="5990" y="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4"/>
          <p:cNvSpPr/>
          <p:nvPr/>
        </p:nvSpPr>
        <p:spPr>
          <a:xfrm>
            <a:off x="4383939" y="2050554"/>
            <a:ext cx="376121" cy="457141"/>
          </a:xfrm>
          <a:custGeom>
            <a:avLst/>
            <a:gdLst/>
            <a:ahLst/>
            <a:cxnLst/>
            <a:rect l="l" t="t" r="r" b="b"/>
            <a:pathLst>
              <a:path w="12033" h="14625" extrusionOk="0">
                <a:moveTo>
                  <a:pt x="6034" y="4792"/>
                </a:moveTo>
                <a:cubicBezTo>
                  <a:pt x="5171" y="4792"/>
                  <a:pt x="4559" y="5473"/>
                  <a:pt x="4557" y="6250"/>
                </a:cubicBezTo>
                <a:cubicBezTo>
                  <a:pt x="4553" y="7072"/>
                  <a:pt x="5198" y="7695"/>
                  <a:pt x="5964" y="7723"/>
                </a:cubicBezTo>
                <a:cubicBezTo>
                  <a:pt x="5982" y="7723"/>
                  <a:pt x="6001" y="7724"/>
                  <a:pt x="6019" y="7724"/>
                </a:cubicBezTo>
                <a:cubicBezTo>
                  <a:pt x="6843" y="7724"/>
                  <a:pt x="7501" y="7046"/>
                  <a:pt x="7480" y="6265"/>
                </a:cubicBezTo>
                <a:cubicBezTo>
                  <a:pt x="7506" y="5451"/>
                  <a:pt x="6821" y="4821"/>
                  <a:pt x="6096" y="4793"/>
                </a:cubicBezTo>
                <a:cubicBezTo>
                  <a:pt x="6075" y="4792"/>
                  <a:pt x="6054" y="4792"/>
                  <a:pt x="6034" y="4792"/>
                </a:cubicBezTo>
                <a:close/>
                <a:moveTo>
                  <a:pt x="6023" y="2734"/>
                </a:moveTo>
                <a:cubicBezTo>
                  <a:pt x="6005" y="2734"/>
                  <a:pt x="5988" y="2735"/>
                  <a:pt x="5971" y="2740"/>
                </a:cubicBezTo>
                <a:cubicBezTo>
                  <a:pt x="5605" y="2832"/>
                  <a:pt x="5242" y="2939"/>
                  <a:pt x="4880" y="3042"/>
                </a:cubicBezTo>
                <a:cubicBezTo>
                  <a:pt x="4537" y="3139"/>
                  <a:pt x="4192" y="3235"/>
                  <a:pt x="3849" y="3333"/>
                </a:cubicBezTo>
                <a:cubicBezTo>
                  <a:pt x="3468" y="3440"/>
                  <a:pt x="3089" y="3553"/>
                  <a:pt x="2708" y="3659"/>
                </a:cubicBezTo>
                <a:cubicBezTo>
                  <a:pt x="2656" y="3673"/>
                  <a:pt x="2634" y="3693"/>
                  <a:pt x="2634" y="3748"/>
                </a:cubicBezTo>
                <a:cubicBezTo>
                  <a:pt x="2637" y="5763"/>
                  <a:pt x="2637" y="7781"/>
                  <a:pt x="2637" y="9796"/>
                </a:cubicBezTo>
                <a:cubicBezTo>
                  <a:pt x="2637" y="9823"/>
                  <a:pt x="2646" y="9849"/>
                  <a:pt x="2649" y="9877"/>
                </a:cubicBezTo>
                <a:cubicBezTo>
                  <a:pt x="3073" y="9043"/>
                  <a:pt x="3694" y="8428"/>
                  <a:pt x="4551" y="8030"/>
                </a:cubicBezTo>
                <a:cubicBezTo>
                  <a:pt x="4022" y="7564"/>
                  <a:pt x="3731" y="6987"/>
                  <a:pt x="3719" y="6295"/>
                </a:cubicBezTo>
                <a:cubicBezTo>
                  <a:pt x="3709" y="5595"/>
                  <a:pt x="3974" y="4997"/>
                  <a:pt x="4500" y="4532"/>
                </a:cubicBezTo>
                <a:cubicBezTo>
                  <a:pt x="4939" y="4146"/>
                  <a:pt x="5479" y="3946"/>
                  <a:pt x="6025" y="3946"/>
                </a:cubicBezTo>
                <a:cubicBezTo>
                  <a:pt x="6573" y="3946"/>
                  <a:pt x="7127" y="4149"/>
                  <a:pt x="7588" y="4567"/>
                </a:cubicBezTo>
                <a:cubicBezTo>
                  <a:pt x="8019" y="4957"/>
                  <a:pt x="8268" y="5460"/>
                  <a:pt x="8316" y="6039"/>
                </a:cubicBezTo>
                <a:cubicBezTo>
                  <a:pt x="8381" y="6832"/>
                  <a:pt x="8098" y="7497"/>
                  <a:pt x="7490" y="8032"/>
                </a:cubicBezTo>
                <a:cubicBezTo>
                  <a:pt x="7915" y="8217"/>
                  <a:pt x="8283" y="8467"/>
                  <a:pt x="8608" y="8787"/>
                </a:cubicBezTo>
                <a:cubicBezTo>
                  <a:pt x="8930" y="9103"/>
                  <a:pt x="9181" y="9471"/>
                  <a:pt x="9371" y="9884"/>
                </a:cubicBezTo>
                <a:cubicBezTo>
                  <a:pt x="9380" y="9881"/>
                  <a:pt x="9388" y="9879"/>
                  <a:pt x="9396" y="9877"/>
                </a:cubicBezTo>
                <a:lnTo>
                  <a:pt x="9396" y="9774"/>
                </a:lnTo>
                <a:lnTo>
                  <a:pt x="9396" y="3782"/>
                </a:lnTo>
                <a:cubicBezTo>
                  <a:pt x="9396" y="3763"/>
                  <a:pt x="9404" y="3744"/>
                  <a:pt x="9398" y="3732"/>
                </a:cubicBezTo>
                <a:cubicBezTo>
                  <a:pt x="9386" y="3707"/>
                  <a:pt x="9367" y="3673"/>
                  <a:pt x="9345" y="3666"/>
                </a:cubicBezTo>
                <a:cubicBezTo>
                  <a:pt x="8885" y="3533"/>
                  <a:pt x="8423" y="3407"/>
                  <a:pt x="7965" y="3275"/>
                </a:cubicBezTo>
                <a:cubicBezTo>
                  <a:pt x="7380" y="3108"/>
                  <a:pt x="6794" y="2938"/>
                  <a:pt x="6207" y="2771"/>
                </a:cubicBezTo>
                <a:cubicBezTo>
                  <a:pt x="6148" y="2754"/>
                  <a:pt x="6082" y="2734"/>
                  <a:pt x="6023" y="2734"/>
                </a:cubicBezTo>
                <a:close/>
                <a:moveTo>
                  <a:pt x="6068" y="8567"/>
                </a:moveTo>
                <a:cubicBezTo>
                  <a:pt x="5955" y="8567"/>
                  <a:pt x="5842" y="8577"/>
                  <a:pt x="5730" y="8584"/>
                </a:cubicBezTo>
                <a:cubicBezTo>
                  <a:pt x="5393" y="8606"/>
                  <a:pt x="5072" y="8702"/>
                  <a:pt x="4771" y="8853"/>
                </a:cubicBezTo>
                <a:cubicBezTo>
                  <a:pt x="4433" y="9018"/>
                  <a:pt x="4134" y="9241"/>
                  <a:pt x="3886" y="9531"/>
                </a:cubicBezTo>
                <a:cubicBezTo>
                  <a:pt x="3709" y="9741"/>
                  <a:pt x="3559" y="9966"/>
                  <a:pt x="3438" y="10211"/>
                </a:cubicBezTo>
                <a:cubicBezTo>
                  <a:pt x="3416" y="10260"/>
                  <a:pt x="3417" y="10283"/>
                  <a:pt x="3468" y="10311"/>
                </a:cubicBezTo>
                <a:cubicBezTo>
                  <a:pt x="3696" y="10428"/>
                  <a:pt x="3923" y="10551"/>
                  <a:pt x="4150" y="10670"/>
                </a:cubicBezTo>
                <a:cubicBezTo>
                  <a:pt x="4411" y="10805"/>
                  <a:pt x="4670" y="10940"/>
                  <a:pt x="4929" y="11076"/>
                </a:cubicBezTo>
                <a:cubicBezTo>
                  <a:pt x="5281" y="11262"/>
                  <a:pt x="5629" y="11452"/>
                  <a:pt x="5980" y="11637"/>
                </a:cubicBezTo>
                <a:cubicBezTo>
                  <a:pt x="5992" y="11644"/>
                  <a:pt x="6008" y="11647"/>
                  <a:pt x="6025" y="11647"/>
                </a:cubicBezTo>
                <a:cubicBezTo>
                  <a:pt x="6041" y="11647"/>
                  <a:pt x="6058" y="11644"/>
                  <a:pt x="6070" y="11637"/>
                </a:cubicBezTo>
                <a:cubicBezTo>
                  <a:pt x="6442" y="11441"/>
                  <a:pt x="6814" y="11240"/>
                  <a:pt x="7186" y="11044"/>
                </a:cubicBezTo>
                <a:cubicBezTo>
                  <a:pt x="7604" y="10824"/>
                  <a:pt x="8023" y="10607"/>
                  <a:pt x="8441" y="10387"/>
                </a:cubicBezTo>
                <a:cubicBezTo>
                  <a:pt x="8505" y="10355"/>
                  <a:pt x="8565" y="10317"/>
                  <a:pt x="8631" y="10277"/>
                </a:cubicBezTo>
                <a:cubicBezTo>
                  <a:pt x="8514" y="10006"/>
                  <a:pt x="8368" y="9763"/>
                  <a:pt x="8177" y="9550"/>
                </a:cubicBezTo>
                <a:cubicBezTo>
                  <a:pt x="7900" y="9240"/>
                  <a:pt x="7578" y="8985"/>
                  <a:pt x="7191" y="8819"/>
                </a:cubicBezTo>
                <a:cubicBezTo>
                  <a:pt x="6852" y="8669"/>
                  <a:pt x="6499" y="8576"/>
                  <a:pt x="6127" y="8568"/>
                </a:cubicBezTo>
                <a:cubicBezTo>
                  <a:pt x="6107" y="8568"/>
                  <a:pt x="6087" y="8567"/>
                  <a:pt x="6068" y="8567"/>
                </a:cubicBezTo>
                <a:close/>
                <a:moveTo>
                  <a:pt x="6006" y="1865"/>
                </a:moveTo>
                <a:cubicBezTo>
                  <a:pt x="6086" y="1865"/>
                  <a:pt x="6166" y="1881"/>
                  <a:pt x="6250" y="1906"/>
                </a:cubicBezTo>
                <a:cubicBezTo>
                  <a:pt x="6931" y="2104"/>
                  <a:pt x="7616" y="2294"/>
                  <a:pt x="8302" y="2488"/>
                </a:cubicBezTo>
                <a:cubicBezTo>
                  <a:pt x="8801" y="2632"/>
                  <a:pt x="9301" y="2775"/>
                  <a:pt x="9801" y="2919"/>
                </a:cubicBezTo>
                <a:cubicBezTo>
                  <a:pt x="9945" y="2958"/>
                  <a:pt x="10087" y="2999"/>
                  <a:pt x="10236" y="3040"/>
                </a:cubicBezTo>
                <a:lnTo>
                  <a:pt x="10236" y="3143"/>
                </a:lnTo>
                <a:cubicBezTo>
                  <a:pt x="10236" y="5524"/>
                  <a:pt x="10236" y="7906"/>
                  <a:pt x="10238" y="10289"/>
                </a:cubicBezTo>
                <a:cubicBezTo>
                  <a:pt x="10239" y="10364"/>
                  <a:pt x="10216" y="10399"/>
                  <a:pt x="10151" y="10431"/>
                </a:cubicBezTo>
                <a:cubicBezTo>
                  <a:pt x="9638" y="10698"/>
                  <a:pt x="9130" y="10966"/>
                  <a:pt x="8618" y="11234"/>
                </a:cubicBezTo>
                <a:cubicBezTo>
                  <a:pt x="8283" y="11410"/>
                  <a:pt x="7946" y="11587"/>
                  <a:pt x="7611" y="11765"/>
                </a:cubicBezTo>
                <a:cubicBezTo>
                  <a:pt x="7147" y="12009"/>
                  <a:pt x="6681" y="12244"/>
                  <a:pt x="6226" y="12502"/>
                </a:cubicBezTo>
                <a:cubicBezTo>
                  <a:pt x="6151" y="12544"/>
                  <a:pt x="6086" y="12565"/>
                  <a:pt x="6022" y="12565"/>
                </a:cubicBezTo>
                <a:cubicBezTo>
                  <a:pt x="5959" y="12565"/>
                  <a:pt x="5897" y="12545"/>
                  <a:pt x="5825" y="12505"/>
                </a:cubicBezTo>
                <a:cubicBezTo>
                  <a:pt x="5311" y="12222"/>
                  <a:pt x="4786" y="11949"/>
                  <a:pt x="4266" y="11675"/>
                </a:cubicBezTo>
                <a:cubicBezTo>
                  <a:pt x="3974" y="11521"/>
                  <a:pt x="3685" y="11369"/>
                  <a:pt x="3394" y="11214"/>
                </a:cubicBezTo>
                <a:cubicBezTo>
                  <a:pt x="2881" y="10942"/>
                  <a:pt x="2369" y="10667"/>
                  <a:pt x="1856" y="10399"/>
                </a:cubicBezTo>
                <a:cubicBezTo>
                  <a:pt x="1799" y="10369"/>
                  <a:pt x="1790" y="10328"/>
                  <a:pt x="1790" y="10274"/>
                </a:cubicBezTo>
                <a:cubicBezTo>
                  <a:pt x="1793" y="9706"/>
                  <a:pt x="1790" y="9140"/>
                  <a:pt x="1790" y="8573"/>
                </a:cubicBezTo>
                <a:lnTo>
                  <a:pt x="1790" y="3155"/>
                </a:lnTo>
                <a:lnTo>
                  <a:pt x="1790" y="3045"/>
                </a:lnTo>
                <a:cubicBezTo>
                  <a:pt x="2144" y="2945"/>
                  <a:pt x="2492" y="2844"/>
                  <a:pt x="2840" y="2743"/>
                </a:cubicBezTo>
                <a:cubicBezTo>
                  <a:pt x="3187" y="2645"/>
                  <a:pt x="3533" y="2547"/>
                  <a:pt x="3879" y="2450"/>
                </a:cubicBezTo>
                <a:cubicBezTo>
                  <a:pt x="4427" y="2296"/>
                  <a:pt x="4973" y="2143"/>
                  <a:pt x="5520" y="1990"/>
                </a:cubicBezTo>
                <a:cubicBezTo>
                  <a:pt x="5612" y="1965"/>
                  <a:pt x="5708" y="1944"/>
                  <a:pt x="5793" y="1908"/>
                </a:cubicBezTo>
                <a:cubicBezTo>
                  <a:pt x="5865" y="1877"/>
                  <a:pt x="5935" y="1865"/>
                  <a:pt x="6006" y="1865"/>
                </a:cubicBezTo>
                <a:close/>
                <a:moveTo>
                  <a:pt x="5997" y="1"/>
                </a:moveTo>
                <a:cubicBezTo>
                  <a:pt x="5928" y="1"/>
                  <a:pt x="5857" y="10"/>
                  <a:pt x="5782" y="35"/>
                </a:cubicBezTo>
                <a:cubicBezTo>
                  <a:pt x="5371" y="171"/>
                  <a:pt x="4951" y="281"/>
                  <a:pt x="4534" y="400"/>
                </a:cubicBezTo>
                <a:cubicBezTo>
                  <a:pt x="3937" y="568"/>
                  <a:pt x="3342" y="735"/>
                  <a:pt x="2747" y="904"/>
                </a:cubicBezTo>
                <a:cubicBezTo>
                  <a:pt x="2372" y="1009"/>
                  <a:pt x="1998" y="1118"/>
                  <a:pt x="1625" y="1225"/>
                </a:cubicBezTo>
                <a:cubicBezTo>
                  <a:pt x="1116" y="1367"/>
                  <a:pt x="611" y="1510"/>
                  <a:pt x="103" y="1647"/>
                </a:cubicBezTo>
                <a:cubicBezTo>
                  <a:pt x="17" y="1672"/>
                  <a:pt x="1" y="1710"/>
                  <a:pt x="2" y="1790"/>
                </a:cubicBezTo>
                <a:cubicBezTo>
                  <a:pt x="5" y="4400"/>
                  <a:pt x="2" y="7012"/>
                  <a:pt x="7" y="9622"/>
                </a:cubicBezTo>
                <a:cubicBezTo>
                  <a:pt x="7" y="9858"/>
                  <a:pt x="23" y="10092"/>
                  <a:pt x="43" y="10327"/>
                </a:cubicBezTo>
                <a:cubicBezTo>
                  <a:pt x="67" y="10589"/>
                  <a:pt x="152" y="10837"/>
                  <a:pt x="272" y="11066"/>
                </a:cubicBezTo>
                <a:cubicBezTo>
                  <a:pt x="417" y="11343"/>
                  <a:pt x="589" y="11603"/>
                  <a:pt x="838" y="11800"/>
                </a:cubicBezTo>
                <a:cubicBezTo>
                  <a:pt x="1002" y="11926"/>
                  <a:pt x="1166" y="12050"/>
                  <a:pt x="1342" y="12156"/>
                </a:cubicBezTo>
                <a:cubicBezTo>
                  <a:pt x="1591" y="12304"/>
                  <a:pt x="1852" y="12431"/>
                  <a:pt x="2108" y="12568"/>
                </a:cubicBezTo>
                <a:cubicBezTo>
                  <a:pt x="2624" y="12842"/>
                  <a:pt x="3143" y="13117"/>
                  <a:pt x="3659" y="13390"/>
                </a:cubicBezTo>
                <a:cubicBezTo>
                  <a:pt x="3948" y="13542"/>
                  <a:pt x="4235" y="13696"/>
                  <a:pt x="4522" y="13849"/>
                </a:cubicBezTo>
                <a:cubicBezTo>
                  <a:pt x="5000" y="14101"/>
                  <a:pt x="5481" y="14351"/>
                  <a:pt x="5958" y="14605"/>
                </a:cubicBezTo>
                <a:cubicBezTo>
                  <a:pt x="5983" y="14618"/>
                  <a:pt x="6004" y="14624"/>
                  <a:pt x="6026" y="14624"/>
                </a:cubicBezTo>
                <a:cubicBezTo>
                  <a:pt x="6049" y="14624"/>
                  <a:pt x="6072" y="14617"/>
                  <a:pt x="6098" y="14603"/>
                </a:cubicBezTo>
                <a:cubicBezTo>
                  <a:pt x="6458" y="14408"/>
                  <a:pt x="6820" y="14216"/>
                  <a:pt x="7181" y="14026"/>
                </a:cubicBezTo>
                <a:cubicBezTo>
                  <a:pt x="7584" y="13812"/>
                  <a:pt x="7988" y="13597"/>
                  <a:pt x="8391" y="13383"/>
                </a:cubicBezTo>
                <a:cubicBezTo>
                  <a:pt x="8794" y="13169"/>
                  <a:pt x="9199" y="12952"/>
                  <a:pt x="9602" y="12739"/>
                </a:cubicBezTo>
                <a:cubicBezTo>
                  <a:pt x="9972" y="12543"/>
                  <a:pt x="10346" y="12357"/>
                  <a:pt x="10712" y="12153"/>
                </a:cubicBezTo>
                <a:cubicBezTo>
                  <a:pt x="10881" y="12059"/>
                  <a:pt x="11044" y="11948"/>
                  <a:pt x="11189" y="11822"/>
                </a:cubicBezTo>
                <a:cubicBezTo>
                  <a:pt x="11477" y="11567"/>
                  <a:pt x="11703" y="11261"/>
                  <a:pt x="11848" y="10899"/>
                </a:cubicBezTo>
                <a:cubicBezTo>
                  <a:pt x="11960" y="10619"/>
                  <a:pt x="12030" y="10328"/>
                  <a:pt x="12030" y="10027"/>
                </a:cubicBezTo>
                <a:lnTo>
                  <a:pt x="12030" y="5954"/>
                </a:lnTo>
                <a:lnTo>
                  <a:pt x="12030" y="2551"/>
                </a:lnTo>
                <a:cubicBezTo>
                  <a:pt x="12030" y="2284"/>
                  <a:pt x="12026" y="2019"/>
                  <a:pt x="12031" y="1754"/>
                </a:cubicBezTo>
                <a:cubicBezTo>
                  <a:pt x="12033" y="1694"/>
                  <a:pt x="12009" y="1667"/>
                  <a:pt x="11951" y="1653"/>
                </a:cubicBezTo>
                <a:cubicBezTo>
                  <a:pt x="11861" y="1629"/>
                  <a:pt x="11773" y="1601"/>
                  <a:pt x="11686" y="1576"/>
                </a:cubicBezTo>
                <a:cubicBezTo>
                  <a:pt x="11020" y="1389"/>
                  <a:pt x="10356" y="1206"/>
                  <a:pt x="9692" y="1018"/>
                </a:cubicBezTo>
                <a:cubicBezTo>
                  <a:pt x="9191" y="876"/>
                  <a:pt x="8691" y="729"/>
                  <a:pt x="8192" y="587"/>
                </a:cubicBezTo>
                <a:cubicBezTo>
                  <a:pt x="7576" y="413"/>
                  <a:pt x="6961" y="241"/>
                  <a:pt x="6347" y="62"/>
                </a:cubicBezTo>
                <a:cubicBezTo>
                  <a:pt x="6229" y="29"/>
                  <a:pt x="6116" y="1"/>
                  <a:pt x="5997" y="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01989" y="3354916"/>
            <a:ext cx="1015450" cy="241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Rezultate</a:t>
            </a:r>
            <a:br>
              <a:rPr lang="en" dirty="0"/>
            </a:br>
            <a:endParaRPr dirty="0"/>
          </a:p>
        </p:txBody>
      </p:sp>
      <p:sp>
        <p:nvSpPr>
          <p:cNvPr id="281" name="Google Shape;281;p36"/>
          <p:cNvSpPr txBox="1">
            <a:spLocks noGrp="1"/>
          </p:cNvSpPr>
          <p:nvPr>
            <p:ph type="subTitle" idx="7"/>
          </p:nvPr>
        </p:nvSpPr>
        <p:spPr>
          <a:xfrm>
            <a:off x="732770" y="1222518"/>
            <a:ext cx="2522494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magine originala – 48 KB</a:t>
            </a:r>
            <a:endParaRPr dirty="0"/>
          </a:p>
        </p:txBody>
      </p:sp>
      <p:sp>
        <p:nvSpPr>
          <p:cNvPr id="283" name="Google Shape;283;p36"/>
          <p:cNvSpPr txBox="1">
            <a:spLocks noGrp="1"/>
          </p:cNvSpPr>
          <p:nvPr>
            <p:ph type="subTitle" idx="9"/>
          </p:nvPr>
        </p:nvSpPr>
        <p:spPr>
          <a:xfrm>
            <a:off x="5888738" y="1222518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r>
              <a:rPr lang="en" dirty="0"/>
              <a:t>up</a:t>
            </a:r>
            <a:r>
              <a:rPr lang="ro-RO" dirty="0"/>
              <a:t>a schimbare</a:t>
            </a:r>
            <a:endParaRPr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subTitle" idx="13"/>
          </p:nvPr>
        </p:nvSpPr>
        <p:spPr>
          <a:xfrm>
            <a:off x="723900" y="3008043"/>
            <a:ext cx="2531364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Imagine originala – 220 KB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ubTitle" idx="15"/>
          </p:nvPr>
        </p:nvSpPr>
        <p:spPr>
          <a:xfrm>
            <a:off x="6176509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Dupa schimbare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8D56D-7D49-ED1A-6891-49C3C098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70" y="1918649"/>
            <a:ext cx="2499741" cy="6929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F57F54-6FF6-ED45-D0D4-A4B1BAE62CF1}"/>
              </a:ext>
            </a:extLst>
          </p:cNvPr>
          <p:cNvCxnSpPr/>
          <p:nvPr/>
        </p:nvCxnSpPr>
        <p:spPr>
          <a:xfrm>
            <a:off x="3852672" y="1549068"/>
            <a:ext cx="16824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D09F01F-B307-8035-BD13-5902469008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241"/>
          <a:stretch>
            <a:fillRect/>
          </a:stretch>
        </p:blipFill>
        <p:spPr>
          <a:xfrm>
            <a:off x="5685918" y="1918649"/>
            <a:ext cx="3230881" cy="7176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A3563A-E56C-61FA-1CD4-2C960BB0F3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788"/>
          <a:stretch>
            <a:fillRect/>
          </a:stretch>
        </p:blipFill>
        <p:spPr>
          <a:xfrm>
            <a:off x="751375" y="3865936"/>
            <a:ext cx="2503889" cy="64093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363119-A37F-3B0E-2535-9269CEA70D13}"/>
              </a:ext>
            </a:extLst>
          </p:cNvPr>
          <p:cNvCxnSpPr/>
          <p:nvPr/>
        </p:nvCxnSpPr>
        <p:spPr>
          <a:xfrm>
            <a:off x="3852672" y="3334593"/>
            <a:ext cx="16824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2E62955-1304-377F-5E1A-57158F39C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925" y="3853767"/>
            <a:ext cx="2979765" cy="6409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00FDB67D-625B-7F3A-55D0-FA4E0825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9">
            <a:extLst>
              <a:ext uri="{FF2B5EF4-FFF2-40B4-BE49-F238E27FC236}">
                <a16:creationId xmlns:a16="http://schemas.microsoft.com/office/drawing/2014/main" id="{57115D48-FA3D-42C2-0891-BC7B76537BE0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9284" r="9284"/>
          <a:stretch/>
        </p:blipFill>
        <p:spPr>
          <a:xfrm>
            <a:off x="384041" y="1462828"/>
            <a:ext cx="3724663" cy="2560532"/>
          </a:xfrm>
          <a:prstGeom prst="snip2DiagRect">
            <a:avLst>
              <a:gd name="adj1" fmla="val 0"/>
              <a:gd name="adj2" fmla="val 16667"/>
            </a:avLst>
          </a:prstGeom>
          <a:noFill/>
        </p:spPr>
      </p:pic>
      <p:pic>
        <p:nvPicPr>
          <p:cNvPr id="6" name="Google Shape;199;p29">
            <a:extLst>
              <a:ext uri="{FF2B5EF4-FFF2-40B4-BE49-F238E27FC236}">
                <a16:creationId xmlns:a16="http://schemas.microsoft.com/office/drawing/2014/main" id="{231D2C8A-4A9A-86F5-7E00-786896D1420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8001" r="8001"/>
          <a:stretch/>
        </p:blipFill>
        <p:spPr>
          <a:xfrm>
            <a:off x="4706112" y="1462828"/>
            <a:ext cx="3877056" cy="2560532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927CB-4AAC-AE5B-D409-3D5DDC3F9FA5}"/>
              </a:ext>
            </a:extLst>
          </p:cNvPr>
          <p:cNvSpPr txBox="1"/>
          <p:nvPr/>
        </p:nvSpPr>
        <p:spPr>
          <a:xfrm>
            <a:off x="597408" y="4149887"/>
            <a:ext cx="798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2"/>
                </a:solidFill>
                <a:latin typeface="Mukta Mahee" panose="020B0604020202020204" charset="0"/>
                <a:cs typeface="Mukta Mahee" panose="020B0604020202020204" charset="0"/>
              </a:rPr>
              <a:t>Original					Modificat</a:t>
            </a:r>
            <a:endParaRPr lang="en-US" dirty="0">
              <a:solidFill>
                <a:schemeClr val="accent2"/>
              </a:solidFill>
              <a:latin typeface="Mukta Mahee" panose="020B0604020202020204" charset="0"/>
              <a:cs typeface="Mukta Mahe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06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Concluzii PNG</a:t>
            </a:r>
            <a:endParaRPr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720000" y="1812150"/>
            <a:ext cx="3059520" cy="2235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Datele demonstrează că procesul de ascundere al mesajului distruge redundanța imaginii, transformând o imagine simplă  într-un fișier complex d.p.d.v matematic deși vizual rămâne neschimbată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Securitatea vine cu un cost de stocare</a:t>
            </a:r>
            <a:r>
              <a:rPr lang="en-GB" dirty="0"/>
              <a:t>: cu c</a:t>
            </a:r>
            <a:r>
              <a:rPr lang="ro-RO" dirty="0"/>
              <a:t>ât imaginea este mai simplă, cu atât impactul criptării este mai mare</a:t>
            </a:r>
            <a:endParaRPr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9CCE855-05C4-0D3E-66B6-46E5F698E1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13318"/>
              </p:ext>
            </p:extLst>
          </p:nvPr>
        </p:nvGraphicFramePr>
        <p:xfrm>
          <a:off x="4702020" y="1429526"/>
          <a:ext cx="3938016" cy="2813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A033944F-5710-3120-8829-EA943215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>
            <a:extLst>
              <a:ext uri="{FF2B5EF4-FFF2-40B4-BE49-F238E27FC236}">
                <a16:creationId xmlns:a16="http://schemas.microsoft.com/office/drawing/2014/main" id="{A7DCDBF0-EEAD-4B9A-0251-A0EC4376E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Manual de utilizare</a:t>
            </a:r>
            <a:endParaRPr dirty="0"/>
          </a:p>
        </p:txBody>
      </p:sp>
      <p:sp>
        <p:nvSpPr>
          <p:cNvPr id="240" name="Google Shape;240;p33">
            <a:extLst>
              <a:ext uri="{FF2B5EF4-FFF2-40B4-BE49-F238E27FC236}">
                <a16:creationId xmlns:a16="http://schemas.microsoft.com/office/drawing/2014/main" id="{17249D36-3C00-153A-3F71-5FBB68B0147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844097"/>
            <a:ext cx="7509600" cy="1455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Pas 1</a:t>
            </a:r>
            <a:r>
              <a:rPr lang="en-US" dirty="0"/>
              <a:t>  - Ini</a:t>
            </a:r>
            <a:r>
              <a:rPr lang="ro-RO" dirty="0"/>
              <a:t>țializare</a:t>
            </a:r>
            <a:r>
              <a:rPr lang="en-US" dirty="0"/>
              <a:t>:</a:t>
            </a:r>
            <a:r>
              <a:rPr lang="ro-RO" dirty="0"/>
              <a:t> selectarea unei imagini,  sfatul AI, introducerea mesajului secret și a parolei de criptare (opțional)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Pas 2 – Procesarea</a:t>
            </a:r>
            <a:r>
              <a:rPr lang="en-US" dirty="0"/>
              <a:t>:  </a:t>
            </a: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criptează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(AES)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ascunde</a:t>
            </a:r>
            <a:r>
              <a:rPr lang="en-US" dirty="0"/>
              <a:t> (LSB)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Pas 3 – </a:t>
            </a:r>
            <a:r>
              <a:rPr lang="en-US" dirty="0" err="1"/>
              <a:t>Verificare</a:t>
            </a:r>
            <a:r>
              <a:rPr lang="en-US" dirty="0"/>
              <a:t>: </a:t>
            </a:r>
            <a:r>
              <a:rPr lang="en-US" dirty="0" err="1"/>
              <a:t>Descărcarea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ro-RO" dirty="0"/>
              <a:t>și reîncărcarea acesteia pentru extragerea și validarea mesajului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o-RO" dirty="0"/>
              <a:t>Cerințe</a:t>
            </a:r>
            <a:r>
              <a:rPr lang="en-US" dirty="0"/>
              <a:t>: Browser Web + internet (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instalare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6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D5D730D-8ADA-845A-4239-0A83F5D7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28">
            <a:extLst>
              <a:ext uri="{FF2B5EF4-FFF2-40B4-BE49-F238E27FC236}">
                <a16:creationId xmlns:a16="http://schemas.microsoft.com/office/drawing/2014/main" id="{6DCC0F3F-3F15-9E8F-10DF-5929D14DFC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2849610"/>
              </p:ext>
            </p:extLst>
          </p:nvPr>
        </p:nvGraphicFramePr>
        <p:xfrm>
          <a:off x="1073568" y="1458744"/>
          <a:ext cx="6753696" cy="1213720"/>
        </p:xfrm>
        <a:graphic>
          <a:graphicData uri="http://schemas.openxmlformats.org/drawingml/2006/table">
            <a:tbl>
              <a:tblPr>
                <a:noFill/>
                <a:tableStyleId>{6372D863-09A3-476E-942D-471D105BE44E}</a:tableStyleId>
              </a:tblPr>
              <a:tblGrid>
                <a:gridCol w="6753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8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Extinderea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algoritmului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pentru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fișiere</a:t>
                      </a: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 Audio/Video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Dezvoltarea unei aplicații mobile native (React Native)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1" name="Google Shape;191;p28">
            <a:extLst>
              <a:ext uri="{FF2B5EF4-FFF2-40B4-BE49-F238E27FC236}">
                <a16:creationId xmlns:a16="http://schemas.microsoft.com/office/drawing/2014/main" id="{0E2A0386-84C4-5CB4-A262-732952E43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D</a:t>
            </a:r>
            <a:r>
              <a:rPr lang="en-US" dirty="0" err="1"/>
              <a:t>irectii</a:t>
            </a:r>
            <a:r>
              <a:rPr lang="en-US" dirty="0"/>
              <a:t> </a:t>
            </a:r>
            <a:r>
              <a:rPr lang="en-US" dirty="0" err="1"/>
              <a:t>viitoare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191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0"/>
          <p:cNvSpPr txBox="1">
            <a:spLocks noGrp="1"/>
          </p:cNvSpPr>
          <p:nvPr>
            <p:ph type="body" idx="1"/>
          </p:nvPr>
        </p:nvSpPr>
        <p:spPr>
          <a:xfrm>
            <a:off x="720000" y="1116765"/>
            <a:ext cx="7704000" cy="30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000"/>
              </a:spcBef>
              <a:buNone/>
            </a:pPr>
            <a:r>
              <a:rPr lang="en-US" sz="1100" dirty="0">
                <a:hlinkClick r:id="rId3"/>
              </a:rPr>
              <a:t>https://www.pantechsolutions.net/matlab-code-for-lsb-steganography</a:t>
            </a:r>
            <a:endParaRPr lang="ro-RO" sz="1100" dirty="0"/>
          </a:p>
          <a:p>
            <a:pPr marL="0" lvl="0" indent="0">
              <a:spcBef>
                <a:spcPts val="1000"/>
              </a:spcBef>
              <a:buNone/>
            </a:pPr>
            <a:r>
              <a:rPr lang="ro-RO" sz="1100" dirty="0">
                <a:hlinkClick r:id="rId4"/>
              </a:rPr>
              <a:t>https://www.protectstar.com/en/blog/hiding-in-plain-sight-how-malware-can-be-concealed-using-steganography-in-images</a:t>
            </a:r>
            <a:endParaRPr lang="ro-RO" sz="1100" dirty="0"/>
          </a:p>
          <a:p>
            <a:pPr marL="0" lvl="0" indent="0">
              <a:spcBef>
                <a:spcPts val="1000"/>
              </a:spcBef>
              <a:buNone/>
            </a:pPr>
            <a:r>
              <a:rPr lang="ro-RO" sz="1100" dirty="0">
                <a:hlinkClick r:id="rId5"/>
              </a:rPr>
              <a:t>https://en.wikipedia.org/wiki/Steganography</a:t>
            </a:r>
            <a:endParaRPr lang="ro-RO" sz="1100" dirty="0"/>
          </a:p>
          <a:p>
            <a:pPr marL="0" lvl="0" indent="0">
              <a:spcBef>
                <a:spcPts val="1000"/>
              </a:spcBef>
              <a:buNone/>
            </a:pPr>
            <a:endParaRPr lang="ro-RO" sz="1100" dirty="0"/>
          </a:p>
          <a:p>
            <a:pPr marL="0" lvl="0" indent="0">
              <a:spcBef>
                <a:spcPts val="1000"/>
              </a:spcBef>
              <a:buNone/>
            </a:pPr>
            <a:endParaRPr sz="1100" dirty="0"/>
          </a:p>
        </p:txBody>
      </p:sp>
      <p:sp>
        <p:nvSpPr>
          <p:cNvPr id="589" name="Google Shape;58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Bibliografie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Security Hacker Pitch Deck by Slidesgo">
  <a:themeElements>
    <a:clrScheme name="Simple Light">
      <a:dk1>
        <a:srgbClr val="B8FFFF"/>
      </a:dk1>
      <a:lt1>
        <a:srgbClr val="4C5052"/>
      </a:lt1>
      <a:dk2>
        <a:srgbClr val="202222"/>
      </a:dk2>
      <a:lt2>
        <a:srgbClr val="3D7272"/>
      </a:lt2>
      <a:accent1>
        <a:srgbClr val="769C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8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679</Words>
  <Application>Microsoft Office PowerPoint</Application>
  <PresentationFormat>On-screen Show (16:9)</PresentationFormat>
  <Paragraphs>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Nunito Light</vt:lpstr>
      <vt:lpstr>Mukta Mahee</vt:lpstr>
      <vt:lpstr>Bebas Neue</vt:lpstr>
      <vt:lpstr>Orbitron</vt:lpstr>
      <vt:lpstr>IT Security Hacker Pitch Deck by Slidesgo</vt:lpstr>
      <vt:lpstr>Steganografie digitala</vt:lpstr>
      <vt:lpstr>Contextul Actual si Aria de Impact</vt:lpstr>
      <vt:lpstr>Steganografie vs. Criptografie</vt:lpstr>
      <vt:lpstr>Analiza Pietei si Elementul de noutate</vt:lpstr>
      <vt:lpstr>Cerinte Functionale (Requirements)</vt:lpstr>
      <vt:lpstr>Arhitectura Software</vt:lpstr>
      <vt:lpstr>Diagrama UML</vt:lpstr>
      <vt:lpstr>Structura si Organizarea Codului</vt:lpstr>
      <vt:lpstr>Algoritmi implementati</vt:lpstr>
      <vt:lpstr>Verificare si Validare</vt:lpstr>
      <vt:lpstr>Rezultate </vt:lpstr>
      <vt:lpstr>PowerPoint Presentation</vt:lpstr>
      <vt:lpstr>Concluzii PNG</vt:lpstr>
      <vt:lpstr>Manual de utilizare</vt:lpstr>
      <vt:lpstr>Directii viitoare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Teona Bulearca</cp:lastModifiedBy>
  <cp:revision>13</cp:revision>
  <dcterms:modified xsi:type="dcterms:W3CDTF">2026-01-31T07:42:57Z</dcterms:modified>
</cp:coreProperties>
</file>